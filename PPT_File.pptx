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2"/>
  </p:notesMasterIdLst>
  <p:sldIdLst>
    <p:sldId id="256" r:id="rId2"/>
    <p:sldId id="273" r:id="rId3"/>
    <p:sldId id="274"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5" r:id="rId20"/>
    <p:sldId id="272" r:id="rId21"/>
  </p:sldIdLst>
  <p:sldSz cx="12192000" cy="6858000"/>
  <p:notesSz cx="6858000" cy="9144000"/>
  <p:embeddedFontLst>
    <p:embeddedFont>
      <p:font typeface="Average" panose="020B0604020202020204" charset="0"/>
      <p:regular r:id="rId23"/>
    </p:embeddedFont>
    <p:embeddedFont>
      <p:font typeface="Calibri" panose="020F0502020204030204" pitchFamily="34" charset="0"/>
      <p:regular r:id="rId24"/>
      <p:bold r:id="rId25"/>
      <p:italic r:id="rId26"/>
      <p:boldItalic r:id="rId27"/>
    </p:embeddedFont>
    <p:embeddedFont>
      <p:font typeface="Century Gothic" panose="020B0502020202020204" pitchFamily="34" charset="0"/>
      <p:regular r:id="rId28"/>
      <p:bold r:id="rId29"/>
      <p:italic r:id="rId30"/>
      <p:boldItalic r:id="rId31"/>
    </p:embeddedFont>
    <p:embeddedFont>
      <p:font typeface="Oswald" panose="020B0604020202020204" charset="0"/>
      <p:regular r:id="rId32"/>
      <p:bold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 name="Google Shape;7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a:t>1</a:t>
            </a:r>
            <a:r>
              <a:rPr lang="en-IN" baseline="30000"/>
              <a:t>st</a:t>
            </a:r>
            <a:r>
              <a:rPr lang="en-IN"/>
              <a:t> slide. This helps understand which gender visits malls and shops more frequently. As result says that gender female have more number of transactions i.e. 59482 as compare to male i.e. 39975. </a:t>
            </a:r>
            <a:endParaRPr/>
          </a:p>
        </p:txBody>
      </p:sp>
      <p:sp>
        <p:nvSpPr>
          <p:cNvPr id="81" name="Google Shape;8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4</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 name="Google Shape;8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a:t>2</a:t>
            </a:r>
            <a:r>
              <a:rPr lang="en-IN" baseline="30000"/>
              <a:t>nd</a:t>
            </a:r>
            <a:r>
              <a:rPr lang="en-IN"/>
              <a:t> slide. This slide identifies which gender bought more items. Useful for gender-based marketing campaigns. As results says that gender female have bought more number of products i.e. 178659 as compare to male i.e. 120053. </a:t>
            </a:r>
            <a:endParaRPr/>
          </a:p>
        </p:txBody>
      </p:sp>
      <p:sp>
        <p:nvSpPr>
          <p:cNvPr id="89" name="Google Shape;8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5</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a:t>3</a:t>
            </a:r>
            <a:r>
              <a:rPr lang="en-IN" baseline="30000"/>
              <a:t>rd</a:t>
            </a:r>
            <a:r>
              <a:rPr lang="en-IN"/>
              <a:t> slide. This shows which gender contributed the most TL revenue. Useful for marketing and prioritization. The company can target premium products to this group.</a:t>
            </a:r>
            <a:endParaRPr/>
          </a:p>
          <a:p>
            <a:pPr marL="0" lvl="0" indent="0" algn="l" rtl="0">
              <a:spcBef>
                <a:spcPts val="0"/>
              </a:spcBef>
              <a:spcAft>
                <a:spcPts val="0"/>
              </a:spcAft>
              <a:buNone/>
            </a:pPr>
            <a:r>
              <a:rPr lang="en-IN"/>
              <a:t>As results says that gender female have generated more revenue i.e. 150207136.02 as compare to male i.e. 101298658.23. </a:t>
            </a:r>
            <a:endParaRPr/>
          </a:p>
        </p:txBody>
      </p:sp>
      <p:sp>
        <p:nvSpPr>
          <p:cNvPr id="97" name="Google Shape;9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6</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 name="Google Shape;10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a:t>4</a:t>
            </a:r>
            <a:r>
              <a:rPr lang="en-IN" baseline="30000"/>
              <a:t>th</a:t>
            </a:r>
            <a:r>
              <a:rPr lang="en-IN"/>
              <a:t> slide. Shows preferred categories by each gender. And Shows preferred categories by each Age Group. As First image shows how each categories performed across gender. Clothing category has largest number of purchases which is done by female and male both where as Purchases in the souvenir category were low for males. Second image shows how age group is relative to different categories. Clothing category for age group between 35 to 44 has the highest number of purchases i.e. 6749 whereas Book purchases have declined among the 18 to 24 year old age group which is 687.</a:t>
            </a:r>
            <a:endParaRPr/>
          </a:p>
        </p:txBody>
      </p:sp>
      <p:sp>
        <p:nvSpPr>
          <p:cNvPr id="105" name="Google Shape;10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7</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 name="Google Shape;11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a:t>Second slide of 4</a:t>
            </a:r>
            <a:r>
              <a:rPr lang="en-IN" baseline="30000"/>
              <a:t>th</a:t>
            </a:r>
            <a:r>
              <a:rPr lang="en-IN"/>
              <a:t> slide. Shows preferred categories by each gender. Helps in product placement and advertising strategies. First image in this slide shows which shopping mall has the highest number of purchasers with respect to category. So, Mall of Istanbul has the highest number of purchasers in clothing category where as Viaport Outlet has the lowest number of purchases in Souvenir  category.</a:t>
            </a:r>
            <a:endParaRPr/>
          </a:p>
          <a:p>
            <a:pPr marL="0" lvl="0" indent="0" algn="l" rtl="0">
              <a:spcBef>
                <a:spcPts val="0"/>
              </a:spcBef>
              <a:spcAft>
                <a:spcPts val="0"/>
              </a:spcAft>
              <a:buNone/>
            </a:pPr>
            <a:r>
              <a:rPr lang="en-IN"/>
              <a:t>Second image in this slide shows which payment method is used maximum time to purchase in a specific category. Therefore, Most of the people use mode of payment as Cash to buy clothing product. Numbers are as follows: 15456 is the highest number and debit card has been used less as a mode of payment.</a:t>
            </a:r>
            <a:endParaRPr/>
          </a:p>
        </p:txBody>
      </p:sp>
      <p:sp>
        <p:nvSpPr>
          <p:cNvPr id="114" name="Google Shape;11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8</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a:t>5</a:t>
            </a:r>
            <a:r>
              <a:rPr lang="en-IN" baseline="30000"/>
              <a:t>th</a:t>
            </a:r>
            <a:r>
              <a:rPr lang="en-IN"/>
              <a:t> slide. This slide shows the shopping distribution according to age. Shows which age group shops the most. Buckets ages into groups and summarizes transactions and items per group and it’s shows clearly that age group of 35 to 44 has highest count of shopping as compare to other age groups and 65+ age group has lowest count of shopping. Therefore, Young adults and adults are often the most active shoppers.</a:t>
            </a:r>
            <a:endParaRPr/>
          </a:p>
        </p:txBody>
      </p:sp>
      <p:sp>
        <p:nvSpPr>
          <p:cNvPr id="123" name="Google Shape;12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9</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IN" b="0"/>
              <a:t>6</a:t>
            </a:r>
            <a:r>
              <a:rPr lang="en-IN" b="0" baseline="30000"/>
              <a:t>th</a:t>
            </a:r>
            <a:r>
              <a:rPr lang="en-IN" b="0"/>
              <a:t> slide. This slide shows which age category we sell more products to. A</a:t>
            </a:r>
            <a:r>
              <a:rPr lang="en-IN"/>
              <a:t>ge group buys more items. Sums item quantities per age group — returns which age group bought most units. Age group between 35 to 44 has bought more product then compare to other groups. And age group 65+ bought less product rather than other group. This is Useful for age-based targeting.</a:t>
            </a:r>
            <a:endParaRPr b="1"/>
          </a:p>
          <a:p>
            <a:pPr marL="0" lvl="0" indent="0" algn="l" rtl="0">
              <a:spcBef>
                <a:spcPts val="0"/>
              </a:spcBef>
              <a:spcAft>
                <a:spcPts val="0"/>
              </a:spcAft>
              <a:buNone/>
            </a:pPr>
            <a:endParaRPr/>
          </a:p>
        </p:txBody>
      </p:sp>
      <p:sp>
        <p:nvSpPr>
          <p:cNvPr id="131" name="Google Shape;13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10</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IN"/>
              <a:t>7</a:t>
            </a:r>
            <a:r>
              <a:rPr lang="en-IN" baseline="30000"/>
              <a:t>th</a:t>
            </a:r>
            <a:r>
              <a:rPr lang="en-IN"/>
              <a:t> slide. Useful for age-based targeting. Helps prioritize marketing budget towards most valuable age segments. Age group 46-60 generated more revenue than other age groups.</a:t>
            </a:r>
            <a:endParaRPr/>
          </a:p>
          <a:p>
            <a:pPr marL="0" lvl="0" indent="0" algn="l" rtl="0">
              <a:spcBef>
                <a:spcPts val="0"/>
              </a:spcBef>
              <a:spcAft>
                <a:spcPts val="0"/>
              </a:spcAft>
              <a:buNone/>
            </a:pPr>
            <a:endParaRPr/>
          </a:p>
        </p:txBody>
      </p:sp>
      <p:sp>
        <p:nvSpPr>
          <p:cNvPr id="139" name="Google Shape;139;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11</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6" name="Google Shape;146;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a:t>8</a:t>
            </a:r>
            <a:r>
              <a:rPr lang="en-IN" baseline="30000"/>
              <a:t>th</a:t>
            </a:r>
            <a:r>
              <a:rPr lang="en-IN"/>
              <a:t> slide. This slide gives the information about distribution of purchase categories relative to other columns. </a:t>
            </a:r>
            <a:endParaRPr/>
          </a:p>
          <a:p>
            <a:pPr marL="228600" lvl="0" indent="-228600" algn="l" rtl="0">
              <a:spcBef>
                <a:spcPts val="0"/>
              </a:spcBef>
              <a:spcAft>
                <a:spcPts val="0"/>
              </a:spcAft>
              <a:buClr>
                <a:schemeClr val="dk1"/>
              </a:buClr>
              <a:buSzPts val="1200"/>
              <a:buFont typeface="Calibri"/>
              <a:buAutoNum type="arabicPeriod"/>
            </a:pPr>
            <a:r>
              <a:rPr lang="en-IN"/>
              <a:t>Purchase Category with respect to age. So, Female gender have highest number of purchases for clothing category.</a:t>
            </a:r>
            <a:endParaRPr/>
          </a:p>
          <a:p>
            <a:pPr marL="228600" lvl="0" indent="-228600" algn="l" rtl="0">
              <a:spcBef>
                <a:spcPts val="0"/>
              </a:spcBef>
              <a:spcAft>
                <a:spcPts val="0"/>
              </a:spcAft>
              <a:buClr>
                <a:schemeClr val="dk1"/>
              </a:buClr>
              <a:buSzPts val="1200"/>
              <a:buFont typeface="Calibri"/>
              <a:buAutoNum type="arabicPeriod"/>
            </a:pPr>
            <a:r>
              <a:rPr lang="en-IN"/>
              <a:t>Purchase category with respect to age group. Age group of 46-60 have the highest number of revenue for clothing category as compare to other age group.</a:t>
            </a:r>
            <a:endParaRPr/>
          </a:p>
        </p:txBody>
      </p:sp>
      <p:sp>
        <p:nvSpPr>
          <p:cNvPr id="147" name="Google Shape;147;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12</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a:t>Second slide of 8</a:t>
            </a:r>
            <a:r>
              <a:rPr lang="en-IN" baseline="30000"/>
              <a:t>th</a:t>
            </a:r>
            <a:r>
              <a:rPr lang="en-IN"/>
              <a:t> slide. This shows of payment method relation with other column. This shows which categories are popular with which age groups and which payment methods are used per category. For clothing category people uses cash payment method which is highest amongst all the payment method. </a:t>
            </a:r>
            <a:endParaRPr/>
          </a:p>
        </p:txBody>
      </p:sp>
      <p:sp>
        <p:nvSpPr>
          <p:cNvPr id="156" name="Google Shape;156;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13</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a:t>9</a:t>
            </a:r>
            <a:r>
              <a:rPr lang="en-IN" baseline="30000"/>
              <a:t>th</a:t>
            </a:r>
            <a:r>
              <a:rPr lang="en-IN"/>
              <a:t> slide. This slide gives you the information how payment method have a relation with other columns. Good for bank partnerships and cashback offers. If a particular payment method shows systematically higher average basket value, you may want to promote card terminals or offers. </a:t>
            </a:r>
            <a:endParaRPr/>
          </a:p>
        </p:txBody>
      </p:sp>
      <p:sp>
        <p:nvSpPr>
          <p:cNvPr id="164" name="Google Shape;164;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14</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IN"/>
              <a:t>10</a:t>
            </a:r>
            <a:r>
              <a:rPr lang="en-IN" baseline="30000"/>
              <a:t>th</a:t>
            </a:r>
            <a:r>
              <a:rPr lang="en-IN"/>
              <a:t> slide. Counts transactions per payment method, items sold and revenue, plus percent of total transactions. Tells you what proportion of customers pay by cash / credit / debit and which method contributes more in revenue. So, credit cash has highest transaction as compare to debit card and cash.</a:t>
            </a:r>
            <a:endParaRPr/>
          </a:p>
        </p:txBody>
      </p:sp>
      <p:sp>
        <p:nvSpPr>
          <p:cNvPr id="172" name="Google Shape;172;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15</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b="0"/>
              <a:t>11</a:t>
            </a:r>
            <a:r>
              <a:rPr lang="en-IN" b="0" baseline="30000"/>
              <a:t>th</a:t>
            </a:r>
            <a:r>
              <a:rPr lang="en-IN" b="0"/>
              <a:t> slide. This slide gives the overview of all the customer data in visualization form. Key Insights are:-</a:t>
            </a:r>
            <a:endParaRPr b="0"/>
          </a:p>
          <a:p>
            <a:pPr marL="0" lvl="0" indent="0" algn="l" rtl="0">
              <a:spcBef>
                <a:spcPts val="0"/>
              </a:spcBef>
              <a:spcAft>
                <a:spcPts val="0"/>
              </a:spcAft>
              <a:buNone/>
            </a:pPr>
            <a:r>
              <a:rPr lang="en-IN" b="1"/>
              <a:t>Total Revenue:</a:t>
            </a:r>
            <a:r>
              <a:rPr lang="en-IN"/>
              <a:t> 68,551K | </a:t>
            </a:r>
            <a:r>
              <a:rPr lang="en-IN" b="1"/>
              <a:t>Transactions:</a:t>
            </a:r>
            <a:r>
              <a:rPr lang="en-IN"/>
              <a:t> 99K | </a:t>
            </a:r>
            <a:r>
              <a:rPr lang="en-IN" b="1"/>
              <a:t>Average Order Value:</a:t>
            </a:r>
            <a:r>
              <a:rPr lang="en-IN"/>
              <a:t> 0.69K</a:t>
            </a:r>
            <a:endParaRPr/>
          </a:p>
          <a:p>
            <a:pPr marL="0" lvl="0" indent="0" algn="l" rtl="0">
              <a:spcBef>
                <a:spcPts val="0"/>
              </a:spcBef>
              <a:spcAft>
                <a:spcPts val="0"/>
              </a:spcAft>
              <a:buNone/>
            </a:pPr>
            <a:r>
              <a:rPr lang="en-IN" b="1"/>
              <a:t>Females = 59.8%</a:t>
            </a:r>
            <a:r>
              <a:rPr lang="en-IN"/>
              <a:t> of customers → highest contribution</a:t>
            </a:r>
            <a:endParaRPr/>
          </a:p>
          <a:p>
            <a:pPr marL="0" lvl="0" indent="0" algn="l" rtl="0">
              <a:spcBef>
                <a:spcPts val="0"/>
              </a:spcBef>
              <a:spcAft>
                <a:spcPts val="0"/>
              </a:spcAft>
              <a:buNone/>
            </a:pPr>
            <a:r>
              <a:rPr lang="en-IN" b="1"/>
              <a:t>Top age group:</a:t>
            </a:r>
            <a:r>
              <a:rPr lang="en-IN"/>
              <a:t> 46–60 (19.9M revenue)</a:t>
            </a:r>
            <a:endParaRPr/>
          </a:p>
          <a:p>
            <a:pPr marL="0" lvl="0" indent="0" algn="l" rtl="0">
              <a:spcBef>
                <a:spcPts val="0"/>
              </a:spcBef>
              <a:spcAft>
                <a:spcPts val="0"/>
              </a:spcAft>
              <a:buNone/>
            </a:pPr>
            <a:r>
              <a:rPr lang="en-IN" b="1"/>
              <a:t>Lowest age group:</a:t>
            </a:r>
            <a:r>
              <a:rPr lang="en-IN"/>
              <a:t> 18–25 (10.4M)</a:t>
            </a:r>
            <a:endParaRPr/>
          </a:p>
          <a:p>
            <a:pPr marL="0" lvl="0" indent="0" algn="l" rtl="0">
              <a:spcBef>
                <a:spcPts val="0"/>
              </a:spcBef>
              <a:spcAft>
                <a:spcPts val="0"/>
              </a:spcAft>
              <a:buNone/>
            </a:pPr>
            <a:r>
              <a:rPr lang="en-IN" b="1"/>
              <a:t>Top malls:</a:t>
            </a:r>
            <a:r>
              <a:rPr lang="en-IN"/>
              <a:t> Mall of Istanbul, Kanyon, Metrocity</a:t>
            </a:r>
            <a:endParaRPr/>
          </a:p>
          <a:p>
            <a:pPr marL="0" lvl="0" indent="0" algn="l" rtl="0">
              <a:spcBef>
                <a:spcPts val="0"/>
              </a:spcBef>
              <a:spcAft>
                <a:spcPts val="0"/>
              </a:spcAft>
              <a:buNone/>
            </a:pPr>
            <a:r>
              <a:rPr lang="en-IN" b="1"/>
              <a:t>Digital payments dominate (≈80%)</a:t>
            </a:r>
            <a:r>
              <a:rPr lang="en-IN"/>
              <a:t> – Credit + Debit</a:t>
            </a:r>
            <a:endParaRPr/>
          </a:p>
          <a:p>
            <a:pPr marL="0" lvl="0" indent="0" algn="l" rtl="0">
              <a:spcBef>
                <a:spcPts val="0"/>
              </a:spcBef>
              <a:spcAft>
                <a:spcPts val="0"/>
              </a:spcAft>
              <a:buNone/>
            </a:pPr>
            <a:r>
              <a:rPr lang="en-IN"/>
              <a:t>Several malls show </a:t>
            </a:r>
            <a:r>
              <a:rPr lang="en-IN" b="1"/>
              <a:t>low performance</a:t>
            </a:r>
            <a:r>
              <a:rPr lang="en-IN"/>
              <a:t> (Viaport, Emaar, Forum)</a:t>
            </a:r>
            <a:endParaRPr/>
          </a:p>
          <a:p>
            <a:pPr marL="0" marR="0" lvl="0" indent="0" algn="l" rtl="0">
              <a:lnSpc>
                <a:spcPct val="100000"/>
              </a:lnSpc>
              <a:spcBef>
                <a:spcPts val="0"/>
              </a:spcBef>
              <a:spcAft>
                <a:spcPts val="0"/>
              </a:spcAft>
              <a:buClr>
                <a:schemeClr val="dk1"/>
              </a:buClr>
              <a:buSzPts val="1200"/>
              <a:buFont typeface="Calibri"/>
              <a:buNone/>
            </a:pPr>
            <a:endParaRPr/>
          </a:p>
          <a:p>
            <a:pPr marL="0" lvl="0" indent="0" algn="l" rtl="0">
              <a:spcBef>
                <a:spcPts val="0"/>
              </a:spcBef>
              <a:spcAft>
                <a:spcPts val="0"/>
              </a:spcAft>
              <a:buNone/>
            </a:pPr>
            <a:r>
              <a:rPr lang="en-IN" b="1"/>
              <a:t>Suggestions:-</a:t>
            </a:r>
            <a:endParaRPr/>
          </a:p>
          <a:p>
            <a:pPr marL="0" lvl="0" indent="0" algn="l" rtl="0">
              <a:spcBef>
                <a:spcPts val="0"/>
              </a:spcBef>
              <a:spcAft>
                <a:spcPts val="0"/>
              </a:spcAft>
              <a:buNone/>
            </a:pPr>
            <a:r>
              <a:rPr lang="en-IN"/>
              <a:t>Focus marketing on </a:t>
            </a:r>
            <a:r>
              <a:rPr lang="en-IN" b="1"/>
              <a:t>female customers</a:t>
            </a:r>
            <a:endParaRPr/>
          </a:p>
          <a:p>
            <a:pPr marL="0" lvl="0" indent="0" algn="l" rtl="0">
              <a:spcBef>
                <a:spcPts val="0"/>
              </a:spcBef>
              <a:spcAft>
                <a:spcPts val="0"/>
              </a:spcAft>
              <a:buNone/>
            </a:pPr>
            <a:r>
              <a:rPr lang="en-IN"/>
              <a:t>Target </a:t>
            </a:r>
            <a:r>
              <a:rPr lang="en-IN" b="1"/>
              <a:t>46–60</a:t>
            </a:r>
            <a:r>
              <a:rPr lang="en-IN"/>
              <a:t> with premium products</a:t>
            </a:r>
            <a:endParaRPr/>
          </a:p>
          <a:p>
            <a:pPr marL="0" lvl="0" indent="0" algn="l" rtl="0">
              <a:spcBef>
                <a:spcPts val="0"/>
              </a:spcBef>
              <a:spcAft>
                <a:spcPts val="0"/>
              </a:spcAft>
              <a:buNone/>
            </a:pPr>
            <a:r>
              <a:rPr lang="en-IN"/>
              <a:t>Attract </a:t>
            </a:r>
            <a:r>
              <a:rPr lang="en-IN" b="1"/>
              <a:t>18–25</a:t>
            </a:r>
            <a:r>
              <a:rPr lang="en-IN"/>
              <a:t> using discounts &amp; offers</a:t>
            </a:r>
            <a:endParaRPr/>
          </a:p>
          <a:p>
            <a:pPr marL="0" lvl="0" indent="0" algn="l" rtl="0">
              <a:spcBef>
                <a:spcPts val="0"/>
              </a:spcBef>
              <a:spcAft>
                <a:spcPts val="0"/>
              </a:spcAft>
              <a:buNone/>
            </a:pPr>
            <a:r>
              <a:rPr lang="en-IN"/>
              <a:t>Increase stock &amp; promotions in </a:t>
            </a:r>
            <a:r>
              <a:rPr lang="en-IN" b="1"/>
              <a:t>top 3 malls</a:t>
            </a:r>
            <a:endParaRPr/>
          </a:p>
          <a:p>
            <a:pPr marL="0" lvl="0" indent="0" algn="l" rtl="0">
              <a:spcBef>
                <a:spcPts val="0"/>
              </a:spcBef>
              <a:spcAft>
                <a:spcPts val="0"/>
              </a:spcAft>
              <a:buNone/>
            </a:pPr>
            <a:r>
              <a:rPr lang="en-IN"/>
              <a:t>Improve or close </a:t>
            </a:r>
            <a:r>
              <a:rPr lang="en-IN" b="1"/>
              <a:t>low-performing malls</a:t>
            </a:r>
            <a:endParaRPr/>
          </a:p>
          <a:p>
            <a:pPr marL="0" lvl="0" indent="0" algn="l" rtl="0">
              <a:spcBef>
                <a:spcPts val="0"/>
              </a:spcBef>
              <a:spcAft>
                <a:spcPts val="0"/>
              </a:spcAft>
              <a:buNone/>
            </a:pPr>
            <a:r>
              <a:rPr lang="en-IN"/>
              <a:t>Encourage </a:t>
            </a:r>
            <a:r>
              <a:rPr lang="en-IN" b="1"/>
              <a:t>digital payments</a:t>
            </a:r>
            <a:r>
              <a:rPr lang="en-IN"/>
              <a:t> with cashback</a:t>
            </a:r>
            <a:endParaRPr/>
          </a:p>
          <a:p>
            <a:pPr marL="0" lvl="0" indent="0" algn="l" rtl="0">
              <a:spcBef>
                <a:spcPts val="0"/>
              </a:spcBef>
              <a:spcAft>
                <a:spcPts val="0"/>
              </a:spcAft>
              <a:buNone/>
            </a:pPr>
            <a:r>
              <a:rPr lang="en-IN"/>
              <a:t>Use </a:t>
            </a:r>
            <a:r>
              <a:rPr lang="en-IN" b="1"/>
              <a:t>bundle offers</a:t>
            </a:r>
            <a:r>
              <a:rPr lang="en-IN"/>
              <a:t> to increase order value</a:t>
            </a:r>
            <a:endParaRPr/>
          </a:p>
          <a:p>
            <a:pPr marL="0" marR="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r>
              <a:rPr lang="en-IN"/>
              <a:t>Conclusion:-</a:t>
            </a:r>
            <a:endParaRPr/>
          </a:p>
          <a:p>
            <a:pPr marL="0" marR="0" lvl="0" indent="0" algn="l" rtl="0">
              <a:lnSpc>
                <a:spcPct val="100000"/>
              </a:lnSpc>
              <a:spcBef>
                <a:spcPts val="0"/>
              </a:spcBef>
              <a:spcAft>
                <a:spcPts val="0"/>
              </a:spcAft>
              <a:buClr>
                <a:schemeClr val="dk1"/>
              </a:buClr>
              <a:buSzPts val="1200"/>
              <a:buFont typeface="Calibri"/>
              <a:buNone/>
            </a:pPr>
            <a:r>
              <a:rPr lang="en-IN"/>
              <a:t>Focus on high-value customer segments, strengthen top malls, push digital payments, and increase average order value to boost overall profit.</a:t>
            </a:r>
            <a:endParaRPr/>
          </a:p>
        </p:txBody>
      </p:sp>
      <p:sp>
        <p:nvSpPr>
          <p:cNvPr id="180" name="Google Shape;180;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16</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addf3a0566_0_16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addf3a0566_0_168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g3addf3a0566_0_168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17</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addf3a0566_0_16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addf3a0566_0_167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g3addf3a0566_0_167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grpSp>
        <p:nvGrpSpPr>
          <p:cNvPr id="14" name="Google Shape;14;p2"/>
          <p:cNvGrpSpPr/>
          <p:nvPr/>
        </p:nvGrpSpPr>
        <p:grpSpPr>
          <a:xfrm>
            <a:off x="5800234" y="3807170"/>
            <a:ext cx="591423" cy="140843"/>
            <a:chOff x="4137525" y="2915950"/>
            <a:chExt cx="869100" cy="207000"/>
          </a:xfrm>
        </p:grpSpPr>
        <p:sp>
          <p:nvSpPr>
            <p:cNvPr id="15" name="Google Shape;15;p2"/>
            <p:cNvSpPr/>
            <p:nvPr/>
          </p:nvSpPr>
          <p:spPr>
            <a:xfrm>
              <a:off x="4468575" y="2915950"/>
              <a:ext cx="207000" cy="2070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6" name="Google Shape;16;p2"/>
            <p:cNvSpPr/>
            <p:nvPr/>
          </p:nvSpPr>
          <p:spPr>
            <a:xfrm>
              <a:off x="4799625" y="2915950"/>
              <a:ext cx="207000" cy="2070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7" name="Google Shape;17;p2"/>
            <p:cNvSpPr/>
            <p:nvPr/>
          </p:nvSpPr>
          <p:spPr>
            <a:xfrm>
              <a:off x="4137525" y="2915950"/>
              <a:ext cx="207000" cy="2070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18" name="Google Shape;18;p2"/>
          <p:cNvSpPr txBox="1">
            <a:spLocks noGrp="1"/>
          </p:cNvSpPr>
          <p:nvPr>
            <p:ph type="ctrTitle"/>
          </p:nvPr>
        </p:nvSpPr>
        <p:spPr>
          <a:xfrm>
            <a:off x="895010" y="1321067"/>
            <a:ext cx="10401900" cy="23067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6400"/>
              <a:buNone/>
              <a:defRPr sz="6400"/>
            </a:lvl1pPr>
            <a:lvl2pPr lvl="1" algn="ctr">
              <a:spcBef>
                <a:spcPts val="0"/>
              </a:spcBef>
              <a:spcAft>
                <a:spcPts val="0"/>
              </a:spcAft>
              <a:buSzPts val="6400"/>
              <a:buNone/>
              <a:defRPr sz="6400"/>
            </a:lvl2pPr>
            <a:lvl3pPr lvl="2" algn="ctr">
              <a:spcBef>
                <a:spcPts val="0"/>
              </a:spcBef>
              <a:spcAft>
                <a:spcPts val="0"/>
              </a:spcAft>
              <a:buSzPts val="6400"/>
              <a:buNone/>
              <a:defRPr sz="6400"/>
            </a:lvl3pPr>
            <a:lvl4pPr lvl="3" algn="ctr">
              <a:spcBef>
                <a:spcPts val="0"/>
              </a:spcBef>
              <a:spcAft>
                <a:spcPts val="0"/>
              </a:spcAft>
              <a:buSzPts val="6400"/>
              <a:buNone/>
              <a:defRPr sz="6400"/>
            </a:lvl4pPr>
            <a:lvl5pPr lvl="4" algn="ctr">
              <a:spcBef>
                <a:spcPts val="0"/>
              </a:spcBef>
              <a:spcAft>
                <a:spcPts val="0"/>
              </a:spcAft>
              <a:buSzPts val="6400"/>
              <a:buNone/>
              <a:defRPr sz="6400"/>
            </a:lvl5pPr>
            <a:lvl6pPr lvl="5" algn="ctr">
              <a:spcBef>
                <a:spcPts val="0"/>
              </a:spcBef>
              <a:spcAft>
                <a:spcPts val="0"/>
              </a:spcAft>
              <a:buSzPts val="6400"/>
              <a:buNone/>
              <a:defRPr sz="6400"/>
            </a:lvl6pPr>
            <a:lvl7pPr lvl="6" algn="ctr">
              <a:spcBef>
                <a:spcPts val="0"/>
              </a:spcBef>
              <a:spcAft>
                <a:spcPts val="0"/>
              </a:spcAft>
              <a:buSzPts val="6400"/>
              <a:buNone/>
              <a:defRPr sz="6400"/>
            </a:lvl7pPr>
            <a:lvl8pPr lvl="7" algn="ctr">
              <a:spcBef>
                <a:spcPts val="0"/>
              </a:spcBef>
              <a:spcAft>
                <a:spcPts val="0"/>
              </a:spcAft>
              <a:buSzPts val="6400"/>
              <a:buNone/>
              <a:defRPr sz="6400"/>
            </a:lvl8pPr>
            <a:lvl9pPr lvl="8" algn="ctr">
              <a:spcBef>
                <a:spcPts val="0"/>
              </a:spcBef>
              <a:spcAft>
                <a:spcPts val="0"/>
              </a:spcAft>
              <a:buSzPts val="6400"/>
              <a:buNone/>
              <a:defRPr sz="6400"/>
            </a:lvl9pPr>
          </a:lstStyle>
          <a:p>
            <a:endParaRPr/>
          </a:p>
        </p:txBody>
      </p:sp>
      <p:sp>
        <p:nvSpPr>
          <p:cNvPr id="19" name="Google Shape;19;p2"/>
          <p:cNvSpPr txBox="1">
            <a:spLocks noGrp="1"/>
          </p:cNvSpPr>
          <p:nvPr>
            <p:ph type="subTitle" idx="1"/>
          </p:nvPr>
        </p:nvSpPr>
        <p:spPr>
          <a:xfrm>
            <a:off x="895000" y="4233168"/>
            <a:ext cx="10401900" cy="10569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0" name="Google Shape;20;p2"/>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95000" y="2855000"/>
            <a:ext cx="10469700" cy="1148100"/>
          </a:xfrm>
          <a:prstGeom prst="rect">
            <a:avLst/>
          </a:prstGeom>
        </p:spPr>
        <p:txBody>
          <a:bodyPr spcFirstLastPara="1" wrap="square" lIns="121900" tIns="121900" rIns="121900" bIns="121900" anchor="ctr"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23" name="Google Shape;23;p3"/>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4"/>
        <p:cNvGrpSpPr/>
        <p:nvPr/>
      </p:nvGrpSpPr>
      <p:grpSpPr>
        <a:xfrm>
          <a:off x="0" y="0"/>
          <a:ext cx="0" cy="0"/>
          <a:chOff x="0" y="0"/>
          <a:chExt cx="0" cy="0"/>
        </a:xfrm>
      </p:grpSpPr>
      <p:sp>
        <p:nvSpPr>
          <p:cNvPr id="25" name="Google Shape;25;p4"/>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a:endParaRPr/>
          </a:p>
        </p:txBody>
      </p:sp>
      <p:sp>
        <p:nvSpPr>
          <p:cNvPr id="26" name="Google Shape;26;p4"/>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rmAutofit/>
          </a:bodyPr>
          <a:lstStyle>
            <a:lvl1pPr marL="457200" lvl="0" indent="-381000">
              <a:spcBef>
                <a:spcPts val="0"/>
              </a:spcBef>
              <a:spcAft>
                <a:spcPts val="0"/>
              </a:spcAft>
              <a:buSzPts val="2400"/>
              <a:buChar char="●"/>
              <a:defRPr/>
            </a:lvl1pPr>
            <a:lvl2pPr marL="914400" lvl="1" indent="-349250">
              <a:spcBef>
                <a:spcPts val="0"/>
              </a:spcBef>
              <a:spcAft>
                <a:spcPts val="0"/>
              </a:spcAft>
              <a:buSzPts val="1900"/>
              <a:buChar char="○"/>
              <a:defRPr/>
            </a:lvl2pPr>
            <a:lvl3pPr marL="1371600" lvl="2" indent="-349250">
              <a:spcBef>
                <a:spcPts val="0"/>
              </a:spcBef>
              <a:spcAft>
                <a:spcPts val="0"/>
              </a:spcAft>
              <a:buSzPts val="1900"/>
              <a:buChar char="■"/>
              <a:defRPr/>
            </a:lvl3pPr>
            <a:lvl4pPr marL="1828800" lvl="3" indent="-349250">
              <a:spcBef>
                <a:spcPts val="0"/>
              </a:spcBef>
              <a:spcAft>
                <a:spcPts val="0"/>
              </a:spcAft>
              <a:buSzPts val="1900"/>
              <a:buChar char="●"/>
              <a:defRPr/>
            </a:lvl4pPr>
            <a:lvl5pPr marL="2286000" lvl="4" indent="-349250">
              <a:spcBef>
                <a:spcPts val="0"/>
              </a:spcBef>
              <a:spcAft>
                <a:spcPts val="0"/>
              </a:spcAft>
              <a:buSzPts val="1900"/>
              <a:buChar char="○"/>
              <a:defRPr/>
            </a:lvl5pPr>
            <a:lvl6pPr marL="2743200" lvl="5" indent="-349250">
              <a:spcBef>
                <a:spcPts val="0"/>
              </a:spcBef>
              <a:spcAft>
                <a:spcPts val="0"/>
              </a:spcAft>
              <a:buSzPts val="1900"/>
              <a:buChar char="■"/>
              <a:defRPr/>
            </a:lvl6pPr>
            <a:lvl7pPr marL="3200400" lvl="6" indent="-349250">
              <a:spcBef>
                <a:spcPts val="0"/>
              </a:spcBef>
              <a:spcAft>
                <a:spcPts val="0"/>
              </a:spcAft>
              <a:buSzPts val="1900"/>
              <a:buChar char="●"/>
              <a:defRPr/>
            </a:lvl7pPr>
            <a:lvl8pPr marL="3657600" lvl="7" indent="-349250">
              <a:spcBef>
                <a:spcPts val="0"/>
              </a:spcBef>
              <a:spcAft>
                <a:spcPts val="0"/>
              </a:spcAft>
              <a:buSzPts val="1900"/>
              <a:buChar char="○"/>
              <a:defRPr/>
            </a:lvl8pPr>
            <a:lvl9pPr marL="4114800" lvl="8" indent="-349250">
              <a:spcBef>
                <a:spcPts val="0"/>
              </a:spcBef>
              <a:spcAft>
                <a:spcPts val="0"/>
              </a:spcAft>
              <a:buSzPts val="1900"/>
              <a:buChar char="■"/>
              <a:defRPr/>
            </a:lvl9pPr>
          </a:lstStyle>
          <a:p>
            <a:endParaRPr/>
          </a:p>
        </p:txBody>
      </p:sp>
      <p:sp>
        <p:nvSpPr>
          <p:cNvPr id="27" name="Google Shape;27;p4"/>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a:endParaRPr/>
          </a:p>
        </p:txBody>
      </p:sp>
      <p:sp>
        <p:nvSpPr>
          <p:cNvPr id="30" name="Google Shape;30;p5"/>
          <p:cNvSpPr txBox="1">
            <a:spLocks noGrp="1"/>
          </p:cNvSpPr>
          <p:nvPr>
            <p:ph type="body" idx="1"/>
          </p:nvPr>
        </p:nvSpPr>
        <p:spPr>
          <a:xfrm>
            <a:off x="415600" y="1536633"/>
            <a:ext cx="5333100" cy="4555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1" name="Google Shape;31;p5"/>
          <p:cNvSpPr txBox="1">
            <a:spLocks noGrp="1"/>
          </p:cNvSpPr>
          <p:nvPr>
            <p:ph type="body" idx="2"/>
          </p:nvPr>
        </p:nvSpPr>
        <p:spPr>
          <a:xfrm>
            <a:off x="6443200" y="1536633"/>
            <a:ext cx="5333100" cy="4555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2" name="Google Shape;32;p5"/>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a:endParaRPr/>
          </a:p>
        </p:txBody>
      </p:sp>
      <p:sp>
        <p:nvSpPr>
          <p:cNvPr id="35" name="Google Shape;35;p6"/>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415600" y="740800"/>
            <a:ext cx="3744000" cy="1007700"/>
          </a:xfrm>
          <a:prstGeom prst="rect">
            <a:avLst/>
          </a:prstGeom>
        </p:spPr>
        <p:txBody>
          <a:bodyPr spcFirstLastPara="1" wrap="square" lIns="121900" tIns="121900" rIns="121900" bIns="121900" anchor="b" anchorCtr="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a:endParaRPr/>
          </a:p>
        </p:txBody>
      </p:sp>
      <p:sp>
        <p:nvSpPr>
          <p:cNvPr id="38" name="Google Shape;38;p7"/>
          <p:cNvSpPr txBox="1">
            <a:spLocks noGrp="1"/>
          </p:cNvSpPr>
          <p:nvPr>
            <p:ph type="body" idx="1"/>
          </p:nvPr>
        </p:nvSpPr>
        <p:spPr>
          <a:xfrm>
            <a:off x="415600" y="1852800"/>
            <a:ext cx="3744000" cy="4239300"/>
          </a:xfrm>
          <a:prstGeom prst="rect">
            <a:avLst/>
          </a:prstGeom>
        </p:spPr>
        <p:txBody>
          <a:bodyPr spcFirstLastPara="1" wrap="square" lIns="121900" tIns="121900" rIns="121900" bIns="121900" anchor="t" anchorCtr="0">
            <a:normAutofit/>
          </a:bodyPr>
          <a:lstStyle>
            <a:lvl1pPr marL="457200" lvl="0" indent="-330200">
              <a:spcBef>
                <a:spcPts val="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9" name="Google Shape;39;p7"/>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653667" y="701800"/>
            <a:ext cx="8302800" cy="5454300"/>
          </a:xfrm>
          <a:prstGeom prst="rect">
            <a:avLst/>
          </a:prstGeom>
        </p:spPr>
        <p:txBody>
          <a:bodyPr spcFirstLastPara="1" wrap="square" lIns="121900" tIns="121900" rIns="121900" bIns="121900" anchor="ctr" anchorCtr="0">
            <a:normAutofit/>
          </a:bodyPr>
          <a:lstStyle>
            <a:lvl1pPr lvl="0">
              <a:spcBef>
                <a:spcPts val="0"/>
              </a:spcBef>
              <a:spcAft>
                <a:spcPts val="0"/>
              </a:spcAft>
              <a:buClr>
                <a:schemeClr val="lt1"/>
              </a:buClr>
              <a:buSzPts val="6400"/>
              <a:buNone/>
              <a:defRPr sz="6400">
                <a:solidFill>
                  <a:schemeClr val="lt1"/>
                </a:solidFill>
              </a:defRPr>
            </a:lvl1pPr>
            <a:lvl2pPr lvl="1">
              <a:spcBef>
                <a:spcPts val="0"/>
              </a:spcBef>
              <a:spcAft>
                <a:spcPts val="0"/>
              </a:spcAft>
              <a:buClr>
                <a:schemeClr val="lt1"/>
              </a:buClr>
              <a:buSzPts val="6400"/>
              <a:buNone/>
              <a:defRPr sz="6400">
                <a:solidFill>
                  <a:schemeClr val="lt1"/>
                </a:solidFill>
              </a:defRPr>
            </a:lvl2pPr>
            <a:lvl3pPr lvl="2">
              <a:spcBef>
                <a:spcPts val="0"/>
              </a:spcBef>
              <a:spcAft>
                <a:spcPts val="0"/>
              </a:spcAft>
              <a:buClr>
                <a:schemeClr val="lt1"/>
              </a:buClr>
              <a:buSzPts val="6400"/>
              <a:buNone/>
              <a:defRPr sz="6400">
                <a:solidFill>
                  <a:schemeClr val="lt1"/>
                </a:solidFill>
              </a:defRPr>
            </a:lvl3pPr>
            <a:lvl4pPr lvl="3">
              <a:spcBef>
                <a:spcPts val="0"/>
              </a:spcBef>
              <a:spcAft>
                <a:spcPts val="0"/>
              </a:spcAft>
              <a:buClr>
                <a:schemeClr val="lt1"/>
              </a:buClr>
              <a:buSzPts val="6400"/>
              <a:buNone/>
              <a:defRPr sz="6400">
                <a:solidFill>
                  <a:schemeClr val="lt1"/>
                </a:solidFill>
              </a:defRPr>
            </a:lvl4pPr>
            <a:lvl5pPr lvl="4">
              <a:spcBef>
                <a:spcPts val="0"/>
              </a:spcBef>
              <a:spcAft>
                <a:spcPts val="0"/>
              </a:spcAft>
              <a:buClr>
                <a:schemeClr val="lt1"/>
              </a:buClr>
              <a:buSzPts val="6400"/>
              <a:buNone/>
              <a:defRPr sz="6400">
                <a:solidFill>
                  <a:schemeClr val="lt1"/>
                </a:solidFill>
              </a:defRPr>
            </a:lvl5pPr>
            <a:lvl6pPr lvl="5">
              <a:spcBef>
                <a:spcPts val="0"/>
              </a:spcBef>
              <a:spcAft>
                <a:spcPts val="0"/>
              </a:spcAft>
              <a:buClr>
                <a:schemeClr val="lt1"/>
              </a:buClr>
              <a:buSzPts val="6400"/>
              <a:buNone/>
              <a:defRPr sz="6400">
                <a:solidFill>
                  <a:schemeClr val="lt1"/>
                </a:solidFill>
              </a:defRPr>
            </a:lvl6pPr>
            <a:lvl7pPr lvl="6">
              <a:spcBef>
                <a:spcPts val="0"/>
              </a:spcBef>
              <a:spcAft>
                <a:spcPts val="0"/>
              </a:spcAft>
              <a:buClr>
                <a:schemeClr val="lt1"/>
              </a:buClr>
              <a:buSzPts val="6400"/>
              <a:buNone/>
              <a:defRPr sz="6400">
                <a:solidFill>
                  <a:schemeClr val="lt1"/>
                </a:solidFill>
              </a:defRPr>
            </a:lvl7pPr>
            <a:lvl8pPr lvl="7">
              <a:spcBef>
                <a:spcPts val="0"/>
              </a:spcBef>
              <a:spcAft>
                <a:spcPts val="0"/>
              </a:spcAft>
              <a:buClr>
                <a:schemeClr val="lt1"/>
              </a:buClr>
              <a:buSzPts val="6400"/>
              <a:buNone/>
              <a:defRPr sz="6400">
                <a:solidFill>
                  <a:schemeClr val="lt1"/>
                </a:solidFill>
              </a:defRPr>
            </a:lvl8pPr>
            <a:lvl9pPr lvl="8">
              <a:spcBef>
                <a:spcPts val="0"/>
              </a:spcBef>
              <a:spcAft>
                <a:spcPts val="0"/>
              </a:spcAft>
              <a:buClr>
                <a:schemeClr val="lt1"/>
              </a:buClr>
              <a:buSzPts val="6400"/>
              <a:buNone/>
              <a:defRPr sz="6400">
                <a:solidFill>
                  <a:schemeClr val="lt1"/>
                </a:solidFill>
              </a:defRPr>
            </a:lvl9pPr>
          </a:lstStyle>
          <a:p>
            <a:endParaRPr/>
          </a:p>
        </p:txBody>
      </p:sp>
      <p:sp>
        <p:nvSpPr>
          <p:cNvPr id="42" name="Google Shape;42;p8"/>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
        <p:cNvGrpSpPr/>
        <p:nvPr/>
      </p:nvGrpSpPr>
      <p:grpSpPr>
        <a:xfrm>
          <a:off x="0" y="0"/>
          <a:ext cx="0" cy="0"/>
          <a:chOff x="0" y="0"/>
          <a:chExt cx="0" cy="0"/>
        </a:xfrm>
      </p:grpSpPr>
      <p:sp>
        <p:nvSpPr>
          <p:cNvPr id="44" name="Google Shape;44;p9"/>
          <p:cNvSpPr/>
          <p:nvPr/>
        </p:nvSpPr>
        <p:spPr>
          <a:xfrm>
            <a:off x="6096000" y="0"/>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cxnSp>
        <p:nvCxnSpPr>
          <p:cNvPr id="45" name="Google Shape;45;p9"/>
          <p:cNvCxnSpPr/>
          <p:nvPr/>
        </p:nvCxnSpPr>
        <p:spPr>
          <a:xfrm>
            <a:off x="6706233" y="5994000"/>
            <a:ext cx="624300" cy="0"/>
          </a:xfrm>
          <a:prstGeom prst="straightConnector1">
            <a:avLst/>
          </a:prstGeom>
          <a:noFill/>
          <a:ln w="25400" cap="flat" cmpd="sng">
            <a:solidFill>
              <a:schemeClr val="lt1"/>
            </a:solidFill>
            <a:prstDash val="solid"/>
            <a:round/>
            <a:headEnd type="none" w="sm" len="sm"/>
            <a:tailEnd type="none" w="sm" len="sm"/>
          </a:ln>
        </p:spPr>
      </p:cxnSp>
      <p:sp>
        <p:nvSpPr>
          <p:cNvPr id="46" name="Google Shape;46;p9"/>
          <p:cNvSpPr txBox="1">
            <a:spLocks noGrp="1"/>
          </p:cNvSpPr>
          <p:nvPr>
            <p:ph type="title"/>
          </p:nvPr>
        </p:nvSpPr>
        <p:spPr>
          <a:xfrm>
            <a:off x="354000" y="1441867"/>
            <a:ext cx="5393700" cy="22803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47" name="Google Shape;47;p9"/>
          <p:cNvSpPr txBox="1">
            <a:spLocks noGrp="1"/>
          </p:cNvSpPr>
          <p:nvPr>
            <p:ph type="subTitle" idx="1"/>
          </p:nvPr>
        </p:nvSpPr>
        <p:spPr>
          <a:xfrm>
            <a:off x="354000" y="3793601"/>
            <a:ext cx="5393700" cy="17940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Clr>
                <a:schemeClr val="dk1"/>
              </a:buClr>
              <a:buSzPts val="2800"/>
              <a:buNone/>
              <a:defRPr sz="2800">
                <a:solidFill>
                  <a:schemeClr val="dk1"/>
                </a:solidFill>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48" name="Google Shape;48;p9"/>
          <p:cNvSpPr txBox="1">
            <a:spLocks noGrp="1"/>
          </p:cNvSpPr>
          <p:nvPr>
            <p:ph type="body" idx="2"/>
          </p:nvPr>
        </p:nvSpPr>
        <p:spPr>
          <a:xfrm>
            <a:off x="6586000" y="965600"/>
            <a:ext cx="5115900" cy="4926900"/>
          </a:xfrm>
          <a:prstGeom prst="rect">
            <a:avLst/>
          </a:prstGeom>
        </p:spPr>
        <p:txBody>
          <a:bodyPr spcFirstLastPara="1" wrap="square" lIns="121900" tIns="121900" rIns="121900" bIns="121900" anchor="ctr" anchorCtr="0">
            <a:normAutofit/>
          </a:bodyPr>
          <a:lstStyle>
            <a:lvl1pPr marL="457200" lvl="0" indent="-381000">
              <a:spcBef>
                <a:spcPts val="0"/>
              </a:spcBef>
              <a:spcAft>
                <a:spcPts val="0"/>
              </a:spcAft>
              <a:buClr>
                <a:schemeClr val="lt1"/>
              </a:buClr>
              <a:buSzPts val="2400"/>
              <a:buChar char="●"/>
              <a:defRPr>
                <a:solidFill>
                  <a:schemeClr val="lt1"/>
                </a:solidFill>
              </a:defRPr>
            </a:lvl1pPr>
            <a:lvl2pPr marL="914400" lvl="1" indent="-349250">
              <a:spcBef>
                <a:spcPts val="0"/>
              </a:spcBef>
              <a:spcAft>
                <a:spcPts val="0"/>
              </a:spcAft>
              <a:buClr>
                <a:schemeClr val="lt1"/>
              </a:buClr>
              <a:buSzPts val="1900"/>
              <a:buChar char="○"/>
              <a:defRPr>
                <a:solidFill>
                  <a:schemeClr val="lt1"/>
                </a:solidFill>
              </a:defRPr>
            </a:lvl2pPr>
            <a:lvl3pPr marL="1371600" lvl="2" indent="-349250">
              <a:spcBef>
                <a:spcPts val="0"/>
              </a:spcBef>
              <a:spcAft>
                <a:spcPts val="0"/>
              </a:spcAft>
              <a:buClr>
                <a:schemeClr val="lt1"/>
              </a:buClr>
              <a:buSzPts val="1900"/>
              <a:buChar char="■"/>
              <a:defRPr>
                <a:solidFill>
                  <a:schemeClr val="lt1"/>
                </a:solidFill>
              </a:defRPr>
            </a:lvl3pPr>
            <a:lvl4pPr marL="1828800" lvl="3" indent="-349250">
              <a:spcBef>
                <a:spcPts val="0"/>
              </a:spcBef>
              <a:spcAft>
                <a:spcPts val="0"/>
              </a:spcAft>
              <a:buClr>
                <a:schemeClr val="lt1"/>
              </a:buClr>
              <a:buSzPts val="1900"/>
              <a:buChar char="●"/>
              <a:defRPr>
                <a:solidFill>
                  <a:schemeClr val="lt1"/>
                </a:solidFill>
              </a:defRPr>
            </a:lvl4pPr>
            <a:lvl5pPr marL="2286000" lvl="4" indent="-349250">
              <a:spcBef>
                <a:spcPts val="0"/>
              </a:spcBef>
              <a:spcAft>
                <a:spcPts val="0"/>
              </a:spcAft>
              <a:buClr>
                <a:schemeClr val="lt1"/>
              </a:buClr>
              <a:buSzPts val="1900"/>
              <a:buChar char="○"/>
              <a:defRPr>
                <a:solidFill>
                  <a:schemeClr val="lt1"/>
                </a:solidFill>
              </a:defRPr>
            </a:lvl5pPr>
            <a:lvl6pPr marL="2743200" lvl="5" indent="-349250">
              <a:spcBef>
                <a:spcPts val="0"/>
              </a:spcBef>
              <a:spcAft>
                <a:spcPts val="0"/>
              </a:spcAft>
              <a:buClr>
                <a:schemeClr val="lt1"/>
              </a:buClr>
              <a:buSzPts val="1900"/>
              <a:buChar char="■"/>
              <a:defRPr>
                <a:solidFill>
                  <a:schemeClr val="lt1"/>
                </a:solidFill>
              </a:defRPr>
            </a:lvl6pPr>
            <a:lvl7pPr marL="3200400" lvl="6" indent="-349250">
              <a:spcBef>
                <a:spcPts val="0"/>
              </a:spcBef>
              <a:spcAft>
                <a:spcPts val="0"/>
              </a:spcAft>
              <a:buClr>
                <a:schemeClr val="lt1"/>
              </a:buClr>
              <a:buSzPts val="1900"/>
              <a:buChar char="●"/>
              <a:defRPr>
                <a:solidFill>
                  <a:schemeClr val="lt1"/>
                </a:solidFill>
              </a:defRPr>
            </a:lvl7pPr>
            <a:lvl8pPr marL="3657600" lvl="7" indent="-349250">
              <a:spcBef>
                <a:spcPts val="0"/>
              </a:spcBef>
              <a:spcAft>
                <a:spcPts val="0"/>
              </a:spcAft>
              <a:buClr>
                <a:schemeClr val="lt1"/>
              </a:buClr>
              <a:buSzPts val="1900"/>
              <a:buChar char="○"/>
              <a:defRPr>
                <a:solidFill>
                  <a:schemeClr val="lt1"/>
                </a:solidFill>
              </a:defRPr>
            </a:lvl8pPr>
            <a:lvl9pPr marL="4114800" lvl="8" indent="-349250">
              <a:spcBef>
                <a:spcPts val="0"/>
              </a:spcBef>
              <a:spcAft>
                <a:spcPts val="0"/>
              </a:spcAft>
              <a:buClr>
                <a:schemeClr val="lt1"/>
              </a:buClr>
              <a:buSzPts val="1900"/>
              <a:buChar char="■"/>
              <a:defRPr>
                <a:solidFill>
                  <a:schemeClr val="lt1"/>
                </a:solidFill>
              </a:defRPr>
            </a:lvl9pPr>
          </a:lstStyle>
          <a:p>
            <a:endParaRPr/>
          </a:p>
        </p:txBody>
      </p:sp>
      <p:sp>
        <p:nvSpPr>
          <p:cNvPr id="49" name="Google Shape;49;p9"/>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p10"/>
          <p:cNvSpPr txBox="1">
            <a:spLocks noGrp="1"/>
          </p:cNvSpPr>
          <p:nvPr>
            <p:ph type="body" idx="1"/>
          </p:nvPr>
        </p:nvSpPr>
        <p:spPr>
          <a:xfrm>
            <a:off x="415600" y="5640767"/>
            <a:ext cx="7998300" cy="806700"/>
          </a:xfrm>
          <a:prstGeom prst="rect">
            <a:avLst/>
          </a:prstGeom>
        </p:spPr>
        <p:txBody>
          <a:bodyPr spcFirstLastPara="1" wrap="square" lIns="121900" tIns="121900" rIns="121900" bIns="121900" anchor="ctr" anchorCtr="0">
            <a:normAutofit/>
          </a:bodyPr>
          <a:lstStyle>
            <a:lvl1pPr marL="457200" lvl="0" indent="-228600">
              <a:lnSpc>
                <a:spcPct val="100000"/>
              </a:lnSpc>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1pPr>
          </a:lstStyle>
          <a:p>
            <a:endParaRPr/>
          </a:p>
        </p:txBody>
      </p:sp>
      <p:sp>
        <p:nvSpPr>
          <p:cNvPr id="52" name="Google Shape;52;p10"/>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3"/>
        <p:cNvGrpSpPr/>
        <p:nvPr/>
      </p:nvGrpSpPr>
      <p:grpSpPr>
        <a:xfrm>
          <a:off x="0" y="0"/>
          <a:ext cx="0" cy="0"/>
          <a:chOff x="0" y="0"/>
          <a:chExt cx="0" cy="0"/>
        </a:xfrm>
      </p:grpSpPr>
      <p:sp>
        <p:nvSpPr>
          <p:cNvPr id="54" name="Google Shape;54;p11"/>
          <p:cNvSpPr txBox="1">
            <a:spLocks noGrp="1"/>
          </p:cNvSpPr>
          <p:nvPr>
            <p:ph type="title" hasCustomPrompt="1"/>
          </p:nvPr>
        </p:nvSpPr>
        <p:spPr>
          <a:xfrm>
            <a:off x="415600" y="1673700"/>
            <a:ext cx="11360700" cy="25209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55" name="Google Shape;55;p11"/>
          <p:cNvSpPr txBox="1">
            <a:spLocks noGrp="1"/>
          </p:cNvSpPr>
          <p:nvPr>
            <p:ph type="body" idx="1"/>
          </p:nvPr>
        </p:nvSpPr>
        <p:spPr>
          <a:xfrm>
            <a:off x="415600" y="4304567"/>
            <a:ext cx="11360700" cy="1734300"/>
          </a:xfrm>
          <a:prstGeom prst="rect">
            <a:avLst/>
          </a:prstGeom>
        </p:spPr>
        <p:txBody>
          <a:bodyPr spcFirstLastPara="1" wrap="square" lIns="121900" tIns="121900" rIns="121900" bIns="121900" anchor="t" anchorCtr="0">
            <a:normAutofit/>
          </a:bodyPr>
          <a:lstStyle>
            <a:lvl1pPr marL="457200" lvl="0" indent="-381000" algn="ctr">
              <a:spcBef>
                <a:spcPts val="0"/>
              </a:spcBef>
              <a:spcAft>
                <a:spcPts val="0"/>
              </a:spcAft>
              <a:buSzPts val="2400"/>
              <a:buChar char="●"/>
              <a:defRPr/>
            </a:lvl1pPr>
            <a:lvl2pPr marL="914400" lvl="1" indent="-349250" algn="ctr">
              <a:spcBef>
                <a:spcPts val="0"/>
              </a:spcBef>
              <a:spcAft>
                <a:spcPts val="0"/>
              </a:spcAft>
              <a:buSzPts val="1900"/>
              <a:buChar char="○"/>
              <a:defRPr/>
            </a:lvl2pPr>
            <a:lvl3pPr marL="1371600" lvl="2" indent="-349250" algn="ctr">
              <a:spcBef>
                <a:spcPts val="0"/>
              </a:spcBef>
              <a:spcAft>
                <a:spcPts val="0"/>
              </a:spcAft>
              <a:buSzPts val="1900"/>
              <a:buChar char="■"/>
              <a:defRPr/>
            </a:lvl3pPr>
            <a:lvl4pPr marL="1828800" lvl="3" indent="-349250" algn="ctr">
              <a:spcBef>
                <a:spcPts val="0"/>
              </a:spcBef>
              <a:spcAft>
                <a:spcPts val="0"/>
              </a:spcAft>
              <a:buSzPts val="1900"/>
              <a:buChar char="●"/>
              <a:defRPr/>
            </a:lvl4pPr>
            <a:lvl5pPr marL="2286000" lvl="4" indent="-349250" algn="ctr">
              <a:spcBef>
                <a:spcPts val="0"/>
              </a:spcBef>
              <a:spcAft>
                <a:spcPts val="0"/>
              </a:spcAft>
              <a:buSzPts val="1900"/>
              <a:buChar char="○"/>
              <a:defRPr/>
            </a:lvl5pPr>
            <a:lvl6pPr marL="2743200" lvl="5" indent="-349250" algn="ctr">
              <a:spcBef>
                <a:spcPts val="0"/>
              </a:spcBef>
              <a:spcAft>
                <a:spcPts val="0"/>
              </a:spcAft>
              <a:buSzPts val="1900"/>
              <a:buChar char="■"/>
              <a:defRPr/>
            </a:lvl6pPr>
            <a:lvl7pPr marL="3200400" lvl="6" indent="-349250" algn="ctr">
              <a:spcBef>
                <a:spcPts val="0"/>
              </a:spcBef>
              <a:spcAft>
                <a:spcPts val="0"/>
              </a:spcAft>
              <a:buSzPts val="1900"/>
              <a:buChar char="●"/>
              <a:defRPr/>
            </a:lvl7pPr>
            <a:lvl8pPr marL="3657600" lvl="7" indent="-349250" algn="ctr">
              <a:spcBef>
                <a:spcPts val="0"/>
              </a:spcBef>
              <a:spcAft>
                <a:spcPts val="0"/>
              </a:spcAft>
              <a:buSzPts val="1900"/>
              <a:buChar char="○"/>
              <a:defRPr/>
            </a:lvl8pPr>
            <a:lvl9pPr marL="4114800" lvl="8" indent="-349250" algn="ctr">
              <a:spcBef>
                <a:spcPts val="0"/>
              </a:spcBef>
              <a:spcAft>
                <a:spcPts val="0"/>
              </a:spcAft>
              <a:buSzPts val="1900"/>
              <a:buChar char="■"/>
              <a:defRPr/>
            </a:lvl9pPr>
          </a:lstStyle>
          <a:p>
            <a:endParaRPr/>
          </a:p>
        </p:txBody>
      </p:sp>
      <p:sp>
        <p:nvSpPr>
          <p:cNvPr id="56" name="Google Shape;56;p11"/>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13"/>
          <p:cNvSpPr txBox="1">
            <a:spLocks noGrp="1"/>
          </p:cNvSpPr>
          <p:nvPr>
            <p:ph type="title"/>
          </p:nvPr>
        </p:nvSpPr>
        <p:spPr>
          <a:xfrm>
            <a:off x="1154953" y="1447800"/>
            <a:ext cx="3401100" cy="14478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2400"/>
              <a:buFont typeface="Century Gothic"/>
              <a:buNone/>
              <a:defRPr sz="2400" b="0"/>
            </a:lvl1pPr>
            <a:lvl2pPr lvl="1" algn="l">
              <a:spcBef>
                <a:spcPts val="0"/>
              </a:spcBef>
              <a:spcAft>
                <a:spcPts val="0"/>
              </a:spcAft>
              <a:buSzPts val="4000"/>
              <a:buNone/>
              <a:defRPr/>
            </a:lvl2pPr>
            <a:lvl3pPr lvl="2" algn="l">
              <a:spcBef>
                <a:spcPts val="0"/>
              </a:spcBef>
              <a:spcAft>
                <a:spcPts val="0"/>
              </a:spcAft>
              <a:buSzPts val="4000"/>
              <a:buNone/>
              <a:defRPr/>
            </a:lvl3pPr>
            <a:lvl4pPr lvl="3" algn="l">
              <a:spcBef>
                <a:spcPts val="0"/>
              </a:spcBef>
              <a:spcAft>
                <a:spcPts val="0"/>
              </a:spcAft>
              <a:buSzPts val="4000"/>
              <a:buNone/>
              <a:defRPr/>
            </a:lvl4pPr>
            <a:lvl5pPr lvl="4" algn="l">
              <a:spcBef>
                <a:spcPts val="0"/>
              </a:spcBef>
              <a:spcAft>
                <a:spcPts val="0"/>
              </a:spcAft>
              <a:buSzPts val="4000"/>
              <a:buNone/>
              <a:defRPr/>
            </a:lvl5pPr>
            <a:lvl6pPr lvl="5" algn="l">
              <a:spcBef>
                <a:spcPts val="0"/>
              </a:spcBef>
              <a:spcAft>
                <a:spcPts val="0"/>
              </a:spcAft>
              <a:buSzPts val="4000"/>
              <a:buNone/>
              <a:defRPr/>
            </a:lvl6pPr>
            <a:lvl7pPr lvl="6" algn="l">
              <a:spcBef>
                <a:spcPts val="0"/>
              </a:spcBef>
              <a:spcAft>
                <a:spcPts val="0"/>
              </a:spcAft>
              <a:buSzPts val="4000"/>
              <a:buNone/>
              <a:defRPr/>
            </a:lvl7pPr>
            <a:lvl8pPr lvl="7" algn="l">
              <a:spcBef>
                <a:spcPts val="0"/>
              </a:spcBef>
              <a:spcAft>
                <a:spcPts val="0"/>
              </a:spcAft>
              <a:buSzPts val="4000"/>
              <a:buNone/>
              <a:defRPr/>
            </a:lvl8pPr>
            <a:lvl9pPr lvl="8" algn="l">
              <a:spcBef>
                <a:spcPts val="0"/>
              </a:spcBef>
              <a:spcAft>
                <a:spcPts val="0"/>
              </a:spcAft>
              <a:buSzPts val="4000"/>
              <a:buNone/>
              <a:defRPr/>
            </a:lvl9pPr>
          </a:lstStyle>
          <a:p>
            <a:endParaRPr/>
          </a:p>
        </p:txBody>
      </p:sp>
      <p:sp>
        <p:nvSpPr>
          <p:cNvPr id="61" name="Google Shape;61;p13"/>
          <p:cNvSpPr txBox="1">
            <a:spLocks noGrp="1"/>
          </p:cNvSpPr>
          <p:nvPr>
            <p:ph type="body" idx="1"/>
          </p:nvPr>
        </p:nvSpPr>
        <p:spPr>
          <a:xfrm>
            <a:off x="4784616" y="1447800"/>
            <a:ext cx="5196000" cy="4572000"/>
          </a:xfrm>
          <a:prstGeom prst="rect">
            <a:avLst/>
          </a:prstGeom>
          <a:noFill/>
          <a:ln>
            <a:noFill/>
          </a:ln>
        </p:spPr>
        <p:txBody>
          <a:bodyPr spcFirstLastPara="1" wrap="square" lIns="91425" tIns="45700" rIns="91425" bIns="45700" anchor="ctr" anchorCtr="0">
            <a:normAutofit/>
          </a:bodyPr>
          <a:lstStyle>
            <a:lvl1pPr marL="457200" lvl="0" indent="-330200" algn="l">
              <a:spcBef>
                <a:spcPts val="1000"/>
              </a:spcBef>
              <a:spcAft>
                <a:spcPts val="0"/>
              </a:spcAft>
              <a:buSzPts val="1600"/>
              <a:buChar char="●"/>
              <a:defRPr sz="2000"/>
            </a:lvl1pPr>
            <a:lvl2pPr marL="914400" lvl="1" indent="-320040" algn="l">
              <a:spcBef>
                <a:spcPts val="1000"/>
              </a:spcBef>
              <a:spcAft>
                <a:spcPts val="0"/>
              </a:spcAft>
              <a:buSzPts val="1440"/>
              <a:buChar char="○"/>
              <a:defRPr sz="1800"/>
            </a:lvl2pPr>
            <a:lvl3pPr marL="1371600" lvl="2" indent="-309880" algn="l">
              <a:spcBef>
                <a:spcPts val="1000"/>
              </a:spcBef>
              <a:spcAft>
                <a:spcPts val="0"/>
              </a:spcAft>
              <a:buSzPts val="1280"/>
              <a:buChar char="■"/>
              <a:defRPr sz="1600"/>
            </a:lvl3pPr>
            <a:lvl4pPr marL="1828800" lvl="3" indent="-299719" algn="l">
              <a:spcBef>
                <a:spcPts val="1000"/>
              </a:spcBef>
              <a:spcAft>
                <a:spcPts val="0"/>
              </a:spcAft>
              <a:buSzPts val="1120"/>
              <a:buChar char="●"/>
              <a:defRPr sz="1400"/>
            </a:lvl4pPr>
            <a:lvl5pPr marL="2286000" lvl="4" indent="-299720" algn="l">
              <a:spcBef>
                <a:spcPts val="1000"/>
              </a:spcBef>
              <a:spcAft>
                <a:spcPts val="0"/>
              </a:spcAft>
              <a:buSzPts val="1120"/>
              <a:buChar char="○"/>
              <a:defRPr sz="1400"/>
            </a:lvl5pPr>
            <a:lvl6pPr marL="2743200" lvl="5" indent="-299720" algn="l">
              <a:spcBef>
                <a:spcPts val="1000"/>
              </a:spcBef>
              <a:spcAft>
                <a:spcPts val="0"/>
              </a:spcAft>
              <a:buSzPts val="1120"/>
              <a:buChar char="■"/>
              <a:defRPr sz="1400"/>
            </a:lvl6pPr>
            <a:lvl7pPr marL="3200400" lvl="6" indent="-299720" algn="l">
              <a:spcBef>
                <a:spcPts val="1000"/>
              </a:spcBef>
              <a:spcAft>
                <a:spcPts val="0"/>
              </a:spcAft>
              <a:buSzPts val="1120"/>
              <a:buChar char="●"/>
              <a:defRPr sz="1400"/>
            </a:lvl7pPr>
            <a:lvl8pPr marL="3657600" lvl="7" indent="-299720" algn="l">
              <a:spcBef>
                <a:spcPts val="1000"/>
              </a:spcBef>
              <a:spcAft>
                <a:spcPts val="0"/>
              </a:spcAft>
              <a:buSzPts val="1120"/>
              <a:buChar char="○"/>
              <a:defRPr sz="1400"/>
            </a:lvl8pPr>
            <a:lvl9pPr marL="4114800" lvl="8" indent="-299720" algn="l">
              <a:spcBef>
                <a:spcPts val="1000"/>
              </a:spcBef>
              <a:spcAft>
                <a:spcPts val="0"/>
              </a:spcAft>
              <a:buSzPts val="1120"/>
              <a:buChar char="■"/>
              <a:defRPr sz="1400"/>
            </a:lvl9pPr>
          </a:lstStyle>
          <a:p>
            <a:endParaRPr/>
          </a:p>
        </p:txBody>
      </p:sp>
      <p:sp>
        <p:nvSpPr>
          <p:cNvPr id="62" name="Google Shape;62;p13"/>
          <p:cNvSpPr txBox="1">
            <a:spLocks noGrp="1"/>
          </p:cNvSpPr>
          <p:nvPr>
            <p:ph type="body" idx="2"/>
          </p:nvPr>
        </p:nvSpPr>
        <p:spPr>
          <a:xfrm>
            <a:off x="1154953" y="3129280"/>
            <a:ext cx="3401100" cy="28956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63" name="Google Shape;63;p13"/>
          <p:cNvSpPr txBox="1">
            <a:spLocks noGrp="1"/>
          </p:cNvSpPr>
          <p:nvPr>
            <p:ph type="dt" idx="10"/>
          </p:nvPr>
        </p:nvSpPr>
        <p:spPr>
          <a:xfrm rot="5400000">
            <a:off x="10155638" y="1790701"/>
            <a:ext cx="990600" cy="3048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3"/>
          <p:cNvSpPr txBox="1">
            <a:spLocks noGrp="1"/>
          </p:cNvSpPr>
          <p:nvPr>
            <p:ph type="ftr" idx="11"/>
          </p:nvPr>
        </p:nvSpPr>
        <p:spPr>
          <a:xfrm rot="5400000">
            <a:off x="8951571" y="3225300"/>
            <a:ext cx="3859800" cy="3048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3"/>
          <p:cNvSpPr txBox="1">
            <a:spLocks noGrp="1"/>
          </p:cNvSpPr>
          <p:nvPr>
            <p:ph type="sldNum" idx="12"/>
          </p:nvPr>
        </p:nvSpPr>
        <p:spPr>
          <a:xfrm>
            <a:off x="10352540" y="295729"/>
            <a:ext cx="838200" cy="767700"/>
          </a:xfrm>
          <a:prstGeom prst="rect">
            <a:avLst/>
          </a:prstGeom>
          <a:noFill/>
          <a:ln>
            <a:noFill/>
          </a:ln>
        </p:spPr>
        <p:txBody>
          <a:bodyPr spcFirstLastPara="1" wrap="square" lIns="91425" tIns="45700" rIns="91425" bIns="45700" anchor="b" anchorCtr="0">
            <a:norm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646111" y="452718"/>
            <a:ext cx="9404700" cy="14004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4000"/>
              <a:buNone/>
              <a:defRPr/>
            </a:lvl2pPr>
            <a:lvl3pPr lvl="2" algn="l">
              <a:spcBef>
                <a:spcPts val="0"/>
              </a:spcBef>
              <a:spcAft>
                <a:spcPts val="0"/>
              </a:spcAft>
              <a:buSzPts val="4000"/>
              <a:buNone/>
              <a:defRPr/>
            </a:lvl3pPr>
            <a:lvl4pPr lvl="3" algn="l">
              <a:spcBef>
                <a:spcPts val="0"/>
              </a:spcBef>
              <a:spcAft>
                <a:spcPts val="0"/>
              </a:spcAft>
              <a:buSzPts val="4000"/>
              <a:buNone/>
              <a:defRPr/>
            </a:lvl4pPr>
            <a:lvl5pPr lvl="4" algn="l">
              <a:spcBef>
                <a:spcPts val="0"/>
              </a:spcBef>
              <a:spcAft>
                <a:spcPts val="0"/>
              </a:spcAft>
              <a:buSzPts val="4000"/>
              <a:buNone/>
              <a:defRPr/>
            </a:lvl5pPr>
            <a:lvl6pPr lvl="5" algn="l">
              <a:spcBef>
                <a:spcPts val="0"/>
              </a:spcBef>
              <a:spcAft>
                <a:spcPts val="0"/>
              </a:spcAft>
              <a:buSzPts val="4000"/>
              <a:buNone/>
              <a:defRPr/>
            </a:lvl6pPr>
            <a:lvl7pPr lvl="6" algn="l">
              <a:spcBef>
                <a:spcPts val="0"/>
              </a:spcBef>
              <a:spcAft>
                <a:spcPts val="0"/>
              </a:spcAft>
              <a:buSzPts val="4000"/>
              <a:buNone/>
              <a:defRPr/>
            </a:lvl7pPr>
            <a:lvl8pPr lvl="7" algn="l">
              <a:spcBef>
                <a:spcPts val="0"/>
              </a:spcBef>
              <a:spcAft>
                <a:spcPts val="0"/>
              </a:spcAft>
              <a:buSzPts val="4000"/>
              <a:buNone/>
              <a:defRPr/>
            </a:lvl8pPr>
            <a:lvl9pPr lvl="8" algn="l">
              <a:spcBef>
                <a:spcPts val="0"/>
              </a:spcBef>
              <a:spcAft>
                <a:spcPts val="0"/>
              </a:spcAft>
              <a:buSzPts val="4000"/>
              <a:buNone/>
              <a:defRPr/>
            </a:lvl9pPr>
          </a:lstStyle>
          <a:p>
            <a:endParaRPr/>
          </a:p>
        </p:txBody>
      </p:sp>
      <p:sp>
        <p:nvSpPr>
          <p:cNvPr id="68" name="Google Shape;68;p14"/>
          <p:cNvSpPr txBox="1">
            <a:spLocks noGrp="1"/>
          </p:cNvSpPr>
          <p:nvPr>
            <p:ph type="body" idx="1"/>
          </p:nvPr>
        </p:nvSpPr>
        <p:spPr>
          <a:xfrm>
            <a:off x="1103312" y="2052918"/>
            <a:ext cx="8946600" cy="41955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9" name="Google Shape;69;p14"/>
          <p:cNvSpPr txBox="1">
            <a:spLocks noGrp="1"/>
          </p:cNvSpPr>
          <p:nvPr>
            <p:ph type="dt" idx="10"/>
          </p:nvPr>
        </p:nvSpPr>
        <p:spPr>
          <a:xfrm rot="5400000">
            <a:off x="10155638" y="1790701"/>
            <a:ext cx="990600" cy="3048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rot="5400000">
            <a:off x="8951571" y="3225300"/>
            <a:ext cx="3859800" cy="3048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10352540" y="295729"/>
            <a:ext cx="838200" cy="767700"/>
          </a:xfrm>
          <a:prstGeom prst="rect">
            <a:avLst/>
          </a:prstGeom>
          <a:noFill/>
          <a:ln>
            <a:noFill/>
          </a:ln>
        </p:spPr>
        <p:txBody>
          <a:bodyPr spcFirstLastPara="1" wrap="square" lIns="91425" tIns="45700" rIns="91425" bIns="45700" anchor="b" anchorCtr="0">
            <a:norm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ate">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1pPr>
            <a:lvl2pPr lvl="1">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2pPr>
            <a:lvl3pPr lvl="2">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3pPr>
            <a:lvl4pPr lvl="3">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4pPr>
            <a:lvl5pPr lvl="4">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5pPr>
            <a:lvl6pPr lvl="5">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6pPr>
            <a:lvl7pPr lvl="6">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7pPr>
            <a:lvl8pPr lvl="7">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8pPr>
            <a:lvl9pPr lvl="8">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9pPr>
          </a:lstStyle>
          <a:p>
            <a:endParaRPr/>
          </a:p>
        </p:txBody>
      </p:sp>
      <p:sp>
        <p:nvSpPr>
          <p:cNvPr id="11" name="Google Shape;11;p1"/>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nSpc>
                <a:spcPct val="115000"/>
              </a:lnSpc>
              <a:spcBef>
                <a:spcPts val="0"/>
              </a:spcBef>
              <a:spcAft>
                <a:spcPts val="0"/>
              </a:spcAft>
              <a:buClr>
                <a:schemeClr val="accent3"/>
              </a:buClr>
              <a:buSzPts val="2400"/>
              <a:buFont typeface="Average"/>
              <a:buChar char="●"/>
              <a:defRPr sz="2400">
                <a:solidFill>
                  <a:schemeClr val="accent3"/>
                </a:solidFill>
                <a:latin typeface="Average"/>
                <a:ea typeface="Average"/>
                <a:cs typeface="Average"/>
                <a:sym typeface="Average"/>
              </a:defRPr>
            </a:lvl1pPr>
            <a:lvl2pPr marL="914400" lvl="1" indent="-34925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2pPr>
            <a:lvl3pPr marL="1371600" lvl="2" indent="-34925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3pPr>
            <a:lvl4pPr marL="1828800" lvl="3" indent="-34925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4pPr>
            <a:lvl5pPr marL="2286000" lvl="4" indent="-34925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5pPr>
            <a:lvl6pPr marL="2743200" lvl="5" indent="-34925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6pPr>
            <a:lvl7pPr marL="3200400" lvl="6" indent="-34925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7pPr>
            <a:lvl8pPr marL="3657600" lvl="7" indent="-34925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8pPr>
            <a:lvl9pPr marL="4114800" lvl="8" indent="-34925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9pPr>
          </a:lstStyle>
          <a:p>
            <a:endParaRPr/>
          </a:p>
        </p:txBody>
      </p:sp>
      <p:sp>
        <p:nvSpPr>
          <p:cNvPr id="12" name="Google Shape;12;p1"/>
          <p:cNvSpPr txBox="1">
            <a:spLocks noGrp="1"/>
          </p:cNvSpPr>
          <p:nvPr>
            <p:ph type="sldNum" idx="12"/>
          </p:nvPr>
        </p:nvSpPr>
        <p:spPr>
          <a:xfrm>
            <a:off x="11320333" y="6241346"/>
            <a:ext cx="731700" cy="524700"/>
          </a:xfrm>
          <a:prstGeom prst="rect">
            <a:avLst/>
          </a:prstGeom>
          <a:noFill/>
          <a:ln>
            <a:noFill/>
          </a:ln>
        </p:spPr>
        <p:txBody>
          <a:bodyPr spcFirstLastPara="1" wrap="square" lIns="121900" tIns="121900" rIns="121900" bIns="121900" anchor="ctr" anchorCtr="0">
            <a:normAutofit/>
          </a:bodyPr>
          <a:lstStyle>
            <a:lvl1pPr lvl="0" algn="r">
              <a:buNone/>
              <a:defRPr sz="1300">
                <a:solidFill>
                  <a:schemeClr val="accent3"/>
                </a:solidFill>
                <a:latin typeface="Average"/>
                <a:ea typeface="Average"/>
                <a:cs typeface="Average"/>
                <a:sym typeface="Average"/>
              </a:defRPr>
            </a:lvl1pPr>
            <a:lvl2pPr lvl="1" algn="r">
              <a:buNone/>
              <a:defRPr sz="1300">
                <a:solidFill>
                  <a:schemeClr val="accent3"/>
                </a:solidFill>
                <a:latin typeface="Average"/>
                <a:ea typeface="Average"/>
                <a:cs typeface="Average"/>
                <a:sym typeface="Average"/>
              </a:defRPr>
            </a:lvl2pPr>
            <a:lvl3pPr lvl="2" algn="r">
              <a:buNone/>
              <a:defRPr sz="1300">
                <a:solidFill>
                  <a:schemeClr val="accent3"/>
                </a:solidFill>
                <a:latin typeface="Average"/>
                <a:ea typeface="Average"/>
                <a:cs typeface="Average"/>
                <a:sym typeface="Average"/>
              </a:defRPr>
            </a:lvl3pPr>
            <a:lvl4pPr lvl="3" algn="r">
              <a:buNone/>
              <a:defRPr sz="1300">
                <a:solidFill>
                  <a:schemeClr val="accent3"/>
                </a:solidFill>
                <a:latin typeface="Average"/>
                <a:ea typeface="Average"/>
                <a:cs typeface="Average"/>
                <a:sym typeface="Average"/>
              </a:defRPr>
            </a:lvl4pPr>
            <a:lvl5pPr lvl="4" algn="r">
              <a:buNone/>
              <a:defRPr sz="1300">
                <a:solidFill>
                  <a:schemeClr val="accent3"/>
                </a:solidFill>
                <a:latin typeface="Average"/>
                <a:ea typeface="Average"/>
                <a:cs typeface="Average"/>
                <a:sym typeface="Average"/>
              </a:defRPr>
            </a:lvl5pPr>
            <a:lvl6pPr lvl="5" algn="r">
              <a:buNone/>
              <a:defRPr sz="1300">
                <a:solidFill>
                  <a:schemeClr val="accent3"/>
                </a:solidFill>
                <a:latin typeface="Average"/>
                <a:ea typeface="Average"/>
                <a:cs typeface="Average"/>
                <a:sym typeface="Average"/>
              </a:defRPr>
            </a:lvl6pPr>
            <a:lvl7pPr lvl="6" algn="r">
              <a:buNone/>
              <a:defRPr sz="1300">
                <a:solidFill>
                  <a:schemeClr val="accent3"/>
                </a:solidFill>
                <a:latin typeface="Average"/>
                <a:ea typeface="Average"/>
                <a:cs typeface="Average"/>
                <a:sym typeface="Average"/>
              </a:defRPr>
            </a:lvl7pPr>
            <a:lvl8pPr lvl="7" algn="r">
              <a:buNone/>
              <a:defRPr sz="1300">
                <a:solidFill>
                  <a:schemeClr val="accent3"/>
                </a:solidFill>
                <a:latin typeface="Average"/>
                <a:ea typeface="Average"/>
                <a:cs typeface="Average"/>
                <a:sym typeface="Average"/>
              </a:defRPr>
            </a:lvl8pPr>
            <a:lvl9pPr lvl="8" algn="r">
              <a:buNone/>
              <a:defRPr sz="1300">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mc:AlternateContent xmlns:mc="http://schemas.openxmlformats.org/markup-compatibility/2006" xmlns:p14="http://schemas.microsoft.com/office/powerpoint/2010/main">
    <mc:Choice Requires="p14">
      <p:transition spd="med">
        <p14:flip dir="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sprakhar2119@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shivamitm1@gmail.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5"/>
          <p:cNvSpPr txBox="1">
            <a:spLocks noGrp="1"/>
          </p:cNvSpPr>
          <p:nvPr>
            <p:ph type="ctrTitle"/>
          </p:nvPr>
        </p:nvSpPr>
        <p:spPr>
          <a:xfrm>
            <a:off x="895050" y="1392986"/>
            <a:ext cx="10401900" cy="230670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2"/>
              </a:buClr>
              <a:buSzPts val="7200"/>
              <a:buFont typeface="Century Gothic"/>
              <a:buNone/>
            </a:pPr>
            <a:r>
              <a:rPr lang="en-IN" dirty="0"/>
              <a:t>PRDA-05 </a:t>
            </a:r>
            <a:endParaRPr dirty="0"/>
          </a:p>
          <a:p>
            <a:pPr marL="0" lvl="0" indent="0" algn="ctr" rtl="0">
              <a:spcBef>
                <a:spcPts val="0"/>
              </a:spcBef>
              <a:spcAft>
                <a:spcPts val="0"/>
              </a:spcAft>
              <a:buClr>
                <a:schemeClr val="lt2"/>
              </a:buClr>
              <a:buSzPts val="7200"/>
              <a:buFont typeface="Century Gothic"/>
              <a:buNone/>
            </a:pPr>
            <a:r>
              <a:rPr lang="en-IN" b="1" u="sng" dirty="0"/>
              <a:t>Customer Data Analysis </a:t>
            </a:r>
            <a:endParaRPr dirty="0"/>
          </a:p>
        </p:txBody>
      </p:sp>
      <p:sp>
        <p:nvSpPr>
          <p:cNvPr id="77" name="Google Shape;77;p15"/>
          <p:cNvSpPr txBox="1">
            <a:spLocks noGrp="1"/>
          </p:cNvSpPr>
          <p:nvPr>
            <p:ph type="subTitle" idx="1"/>
          </p:nvPr>
        </p:nvSpPr>
        <p:spPr>
          <a:xfrm>
            <a:off x="1278150" y="4031617"/>
            <a:ext cx="10018800" cy="23067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SzPts val="1280"/>
              <a:buNone/>
            </a:pPr>
            <a:r>
              <a:rPr lang="en-IN" sz="2000" dirty="0"/>
              <a:t>THIS PROJECT ANALYZES SHOPPING BEHAVIOR IN </a:t>
            </a:r>
            <a:endParaRPr sz="2000" dirty="0"/>
          </a:p>
          <a:p>
            <a:pPr marL="0" lvl="0" indent="0" algn="ctr" rtl="0">
              <a:spcBef>
                <a:spcPts val="0"/>
              </a:spcBef>
              <a:spcAft>
                <a:spcPts val="0"/>
              </a:spcAft>
              <a:buSzPts val="1280"/>
              <a:buNone/>
            </a:pPr>
            <a:r>
              <a:rPr lang="en-IN" sz="2000" dirty="0"/>
              <a:t>10 SHOPPING MALLS IN ISTANBUL BETWEEN 2021 AND 2023</a:t>
            </a:r>
            <a:endParaRPr sz="3600" dirty="0"/>
          </a:p>
          <a:p>
            <a:pPr marL="0" lvl="0" indent="0" algn="ctr" rtl="0">
              <a:spcBef>
                <a:spcPts val="1000"/>
              </a:spcBef>
              <a:spcAft>
                <a:spcPts val="0"/>
              </a:spcAft>
              <a:buSzPts val="1920"/>
              <a:buNone/>
            </a:pPr>
            <a:r>
              <a:rPr lang="en-IN" sz="3200" b="1" i="1" u="sng" dirty="0"/>
              <a:t>PRAKHAR PRATAP SINGH &amp; SHIVAM SINGH</a:t>
            </a:r>
            <a:endParaRPr sz="3600" i="1" u="sng" dirty="0"/>
          </a:p>
          <a:p>
            <a:pPr marL="0" lvl="0" indent="0" algn="ctr" rtl="0">
              <a:spcBef>
                <a:spcPts val="1000"/>
              </a:spcBef>
              <a:spcAft>
                <a:spcPts val="0"/>
              </a:spcAft>
              <a:buSzPts val="1280"/>
              <a:buNone/>
            </a:pPr>
            <a:r>
              <a:rPr lang="en-IN" sz="1600" u="sng" dirty="0">
                <a:solidFill>
                  <a:schemeClr val="hlink"/>
                </a:solidFill>
                <a:hlinkClick r:id="rId3"/>
              </a:rPr>
              <a:t>SPRAKHAR2119@GMAIL.COM</a:t>
            </a:r>
            <a:r>
              <a:rPr lang="en-IN" sz="1600" dirty="0"/>
              <a:t>, </a:t>
            </a:r>
            <a:r>
              <a:rPr lang="en-IN" sz="1600" u="sng" dirty="0">
                <a:solidFill>
                  <a:schemeClr val="hlink"/>
                </a:solidFill>
                <a:hlinkClick r:id="rId4"/>
              </a:rPr>
              <a:t>SHIVAMITM1@GMAIL.COM</a:t>
            </a:r>
            <a:r>
              <a:rPr lang="en-IN" sz="1600" dirty="0"/>
              <a:t> | 8650680212, 9005796064</a:t>
            </a:r>
            <a:endParaRPr dirty="0"/>
          </a:p>
          <a:p>
            <a:pPr marL="0" lvl="0" indent="0" algn="ctr" rtl="0">
              <a:spcBef>
                <a:spcPts val="1000"/>
              </a:spcBef>
              <a:spcAft>
                <a:spcPts val="0"/>
              </a:spcAft>
              <a:buSzPts val="1280"/>
              <a:buNone/>
            </a:pPr>
            <a:r>
              <a:rPr lang="en-IN" sz="1600" dirty="0"/>
              <a:t> PROJECT DURATION: 28/11/2025 TO 06/12/2025</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B77566-4A55-4920-BBA2-4F4ACDCD2363}"/>
              </a:ext>
            </a:extLst>
          </p:cNvPr>
          <p:cNvSpPr>
            <a:spLocks noGrp="1"/>
          </p:cNvSpPr>
          <p:nvPr>
            <p:ph type="title"/>
          </p:nvPr>
        </p:nvSpPr>
        <p:spPr>
          <a:xfrm>
            <a:off x="415600" y="490625"/>
            <a:ext cx="11360700" cy="763500"/>
          </a:xfrm>
        </p:spPr>
        <p:txBody>
          <a:bodyPr>
            <a:noAutofit/>
          </a:bodyPr>
          <a:lstStyle/>
          <a:p>
            <a:pPr algn="ctr"/>
            <a:r>
              <a:rPr lang="en-IN" sz="4800" u="sng" dirty="0">
                <a:latin typeface="Times New Roman" panose="02020603050405020304" pitchFamily="18" charset="0"/>
                <a:cs typeface="Times New Roman" panose="02020603050405020304" pitchFamily="18" charset="0"/>
              </a:rPr>
              <a:t>Executive Summary</a:t>
            </a:r>
            <a:endParaRPr lang="en-US" sz="4800" u="sng"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D84C2804-331D-43E2-A154-A97E849D497D}"/>
              </a:ext>
            </a:extLst>
          </p:cNvPr>
          <p:cNvSpPr>
            <a:spLocks noGrp="1"/>
          </p:cNvSpPr>
          <p:nvPr>
            <p:ph type="body" idx="1"/>
          </p:nvPr>
        </p:nvSpPr>
        <p:spPr/>
        <p:txBody>
          <a:bodyPr/>
          <a:lstStyle/>
          <a:p>
            <a:r>
              <a:rPr lang="en-US" dirty="0"/>
              <a:t>This project analyzes customer shopping trends across </a:t>
            </a:r>
            <a:r>
              <a:rPr lang="en-US" b="1" dirty="0"/>
              <a:t>10 major shopping malls in Istanbul</a:t>
            </a:r>
            <a:r>
              <a:rPr lang="en-US" dirty="0"/>
              <a:t> between </a:t>
            </a:r>
            <a:r>
              <a:rPr lang="en-US" b="1" dirty="0"/>
              <a:t>2021 and 2023</a:t>
            </a:r>
            <a:r>
              <a:rPr lang="en-US" dirty="0"/>
              <a:t>. The dataset includes key customer and transaction attributes such as </a:t>
            </a:r>
            <a:r>
              <a:rPr lang="en-US" b="1" dirty="0"/>
              <a:t>age, gender, product category, quantity, price, payment method, and shopping mall location</a:t>
            </a:r>
            <a:r>
              <a:rPr lang="en-US" dirty="0"/>
              <a:t>. The objective is to understand purchasing behavior and uncover actionable business insights.</a:t>
            </a:r>
          </a:p>
        </p:txBody>
      </p:sp>
    </p:spTree>
    <p:extLst>
      <p:ext uri="{BB962C8B-B14F-4D97-AF65-F5344CB8AC3E}">
        <p14:creationId xmlns:p14="http://schemas.microsoft.com/office/powerpoint/2010/main" val="3210873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A0864-F5A2-4B7A-AE84-28CBF9D6F75B}"/>
              </a:ext>
            </a:extLst>
          </p:cNvPr>
          <p:cNvSpPr>
            <a:spLocks noGrp="1"/>
          </p:cNvSpPr>
          <p:nvPr>
            <p:ph type="title"/>
          </p:nvPr>
        </p:nvSpPr>
        <p:spPr>
          <a:xfrm>
            <a:off x="415600" y="531722"/>
            <a:ext cx="11360700" cy="763500"/>
          </a:xfrm>
        </p:spPr>
        <p:txBody>
          <a:bodyPr>
            <a:noAutofit/>
          </a:bodyPr>
          <a:lstStyle/>
          <a:p>
            <a:pPr algn="ctr"/>
            <a:r>
              <a:rPr lang="en-US" u="sng" dirty="0">
                <a:latin typeface="Times New Roman" panose="02020603050405020304" pitchFamily="18" charset="0"/>
                <a:cs typeface="Times New Roman" panose="02020603050405020304" pitchFamily="18" charset="0"/>
              </a:rPr>
              <a:t>DATASET OVERVIEW</a:t>
            </a:r>
          </a:p>
        </p:txBody>
      </p:sp>
      <p:sp>
        <p:nvSpPr>
          <p:cNvPr id="3" name="Text Placeholder 2">
            <a:extLst>
              <a:ext uri="{FF2B5EF4-FFF2-40B4-BE49-F238E27FC236}">
                <a16:creationId xmlns:a16="http://schemas.microsoft.com/office/drawing/2014/main" id="{7812DD5B-BD8F-47E0-8629-48FCC40CE5A8}"/>
              </a:ext>
            </a:extLst>
          </p:cNvPr>
          <p:cNvSpPr>
            <a:spLocks noGrp="1"/>
          </p:cNvSpPr>
          <p:nvPr>
            <p:ph type="body" idx="1"/>
          </p:nvPr>
        </p:nvSpPr>
        <p:spPr/>
        <p:txBody>
          <a:bodyPr>
            <a:normAutofit fontScale="85000" lnSpcReduction="10000"/>
          </a:bodyPr>
          <a:lstStyle/>
          <a:p>
            <a:pPr marL="76200" indent="0">
              <a:buNone/>
            </a:pPr>
            <a:r>
              <a:rPr lang="en-US" b="1" i="1" u="sng" dirty="0"/>
              <a:t>Dataset contains:</a:t>
            </a:r>
          </a:p>
          <a:p>
            <a:r>
              <a:rPr lang="en-IN" b="1" dirty="0" err="1"/>
              <a:t>invoice_no</a:t>
            </a:r>
            <a:r>
              <a:rPr lang="en-IN" b="1" dirty="0"/>
              <a:t>: </a:t>
            </a:r>
            <a:r>
              <a:rPr lang="en-IN" dirty="0"/>
              <a:t>A combination of the letter 'I' and a 6-digit integer uniquely assigned to each operation.</a:t>
            </a:r>
            <a:endParaRPr lang="en-US" dirty="0"/>
          </a:p>
          <a:p>
            <a:r>
              <a:rPr lang="en-IN" b="1" dirty="0" err="1"/>
              <a:t>customer_id</a:t>
            </a:r>
            <a:r>
              <a:rPr lang="en-IN" b="1" dirty="0"/>
              <a:t>: </a:t>
            </a:r>
            <a:r>
              <a:rPr lang="en-IN" dirty="0"/>
              <a:t>A combination of the letter 'C' and a 6-digit integer uniquely assigned to each operation.</a:t>
            </a:r>
            <a:endParaRPr lang="en-US" dirty="0"/>
          </a:p>
          <a:p>
            <a:r>
              <a:rPr lang="en-IN" b="1" dirty="0"/>
              <a:t>gender: </a:t>
            </a:r>
            <a:r>
              <a:rPr lang="en-IN" dirty="0"/>
              <a:t>String variable of the customer's gender.</a:t>
            </a:r>
            <a:endParaRPr lang="en-US" dirty="0"/>
          </a:p>
          <a:p>
            <a:r>
              <a:rPr lang="en-IN" b="1" dirty="0"/>
              <a:t>age</a:t>
            </a:r>
            <a:r>
              <a:rPr lang="en-IN" dirty="0"/>
              <a:t>: Positive Integer variable of the customers age.</a:t>
            </a:r>
            <a:endParaRPr lang="en-US" dirty="0"/>
          </a:p>
          <a:p>
            <a:r>
              <a:rPr lang="en-IN" b="1" dirty="0"/>
              <a:t>category: </a:t>
            </a:r>
            <a:r>
              <a:rPr lang="en-IN" dirty="0"/>
              <a:t>String variable of the category of the purchased product.</a:t>
            </a:r>
            <a:endParaRPr lang="en-US" dirty="0"/>
          </a:p>
          <a:p>
            <a:r>
              <a:rPr lang="en-IN" b="1" dirty="0"/>
              <a:t>quantity: </a:t>
            </a:r>
            <a:r>
              <a:rPr lang="en-IN" dirty="0"/>
              <a:t>The quantities of each product (item) per transaction.</a:t>
            </a:r>
            <a:endParaRPr lang="en-US" dirty="0"/>
          </a:p>
          <a:p>
            <a:r>
              <a:rPr lang="en-IN" b="1" dirty="0"/>
              <a:t>price:</a:t>
            </a:r>
            <a:r>
              <a:rPr lang="en-IN" dirty="0"/>
              <a:t> Product price per unit in Turkish Liras (TL).</a:t>
            </a:r>
            <a:endParaRPr lang="en-US" dirty="0"/>
          </a:p>
          <a:p>
            <a:r>
              <a:rPr lang="en-IN" b="1" dirty="0" err="1"/>
              <a:t>payment_method</a:t>
            </a:r>
            <a:r>
              <a:rPr lang="en-IN" b="1" dirty="0"/>
              <a:t>: </a:t>
            </a:r>
            <a:r>
              <a:rPr lang="en-IN" dirty="0"/>
              <a:t>String variable of the payment method (cash, credit card or debit card) used for the transaction.</a:t>
            </a:r>
            <a:endParaRPr lang="en-US" dirty="0"/>
          </a:p>
          <a:p>
            <a:r>
              <a:rPr lang="en-IN" b="1" dirty="0" err="1"/>
              <a:t>invoice_date</a:t>
            </a:r>
            <a:r>
              <a:rPr lang="en-IN" b="1" dirty="0"/>
              <a:t>: </a:t>
            </a:r>
            <a:r>
              <a:rPr lang="en-IN" dirty="0"/>
              <a:t>The day when a transaction was generated.</a:t>
            </a:r>
            <a:endParaRPr lang="en-US" dirty="0"/>
          </a:p>
          <a:p>
            <a:r>
              <a:rPr lang="en-IN" b="1" dirty="0" err="1"/>
              <a:t>shopping_mall</a:t>
            </a:r>
            <a:r>
              <a:rPr lang="en-IN" b="1" dirty="0"/>
              <a:t>: </a:t>
            </a:r>
            <a:r>
              <a:rPr lang="en-IN" dirty="0"/>
              <a:t>String variable of the name of the shopping mall where the transaction was made.</a:t>
            </a:r>
            <a:endParaRPr lang="en-US" dirty="0"/>
          </a:p>
          <a:p>
            <a:endParaRPr lang="en-US" dirty="0"/>
          </a:p>
        </p:txBody>
      </p:sp>
    </p:spTree>
    <p:extLst>
      <p:ext uri="{BB962C8B-B14F-4D97-AF65-F5344CB8AC3E}">
        <p14:creationId xmlns:p14="http://schemas.microsoft.com/office/powerpoint/2010/main" val="17279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6"/>
          <p:cNvSpPr txBox="1">
            <a:spLocks noGrp="1"/>
          </p:cNvSpPr>
          <p:nvPr>
            <p:ph type="title"/>
          </p:nvPr>
        </p:nvSpPr>
        <p:spPr>
          <a:xfrm>
            <a:off x="839788" y="457200"/>
            <a:ext cx="10625544" cy="768285"/>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2"/>
              </a:buClr>
              <a:buSzPts val="2400"/>
              <a:buFont typeface="Times New Roman"/>
              <a:buNone/>
            </a:pPr>
            <a:r>
              <a:rPr lang="en-IN" sz="3000" u="sng" dirty="0">
                <a:latin typeface="Times New Roman"/>
                <a:ea typeface="Times New Roman"/>
                <a:cs typeface="Times New Roman"/>
                <a:sym typeface="Times New Roman"/>
              </a:rPr>
              <a:t>1. How is the shopping distribution according to gender?</a:t>
            </a:r>
            <a:endParaRPr sz="3000" u="sng" dirty="0">
              <a:latin typeface="Times New Roman"/>
              <a:ea typeface="Times New Roman"/>
              <a:cs typeface="Times New Roman"/>
              <a:sym typeface="Times New Roman"/>
            </a:endParaRPr>
          </a:p>
        </p:txBody>
      </p:sp>
      <p:pic>
        <p:nvPicPr>
          <p:cNvPr id="84" name="Google Shape;84;p16"/>
          <p:cNvPicPr preferRelativeResize="0">
            <a:picLocks noGrp="1"/>
          </p:cNvPicPr>
          <p:nvPr>
            <p:ph type="body" idx="1"/>
          </p:nvPr>
        </p:nvPicPr>
        <p:blipFill rotWithShape="1">
          <a:blip r:embed="rId3">
            <a:alphaModFix/>
          </a:blip>
          <a:srcRect/>
          <a:stretch/>
        </p:blipFill>
        <p:spPr>
          <a:xfrm>
            <a:off x="5561856" y="1847654"/>
            <a:ext cx="6073200" cy="2424900"/>
          </a:xfrm>
          <a:prstGeom prst="rect">
            <a:avLst/>
          </a:prstGeom>
          <a:noFill/>
          <a:ln>
            <a:noFill/>
          </a:ln>
        </p:spPr>
      </p:pic>
      <p:sp>
        <p:nvSpPr>
          <p:cNvPr id="85" name="Google Shape;85;p16"/>
          <p:cNvSpPr txBox="1">
            <a:spLocks noGrp="1"/>
          </p:cNvSpPr>
          <p:nvPr>
            <p:ph type="body" idx="2"/>
          </p:nvPr>
        </p:nvSpPr>
        <p:spPr>
          <a:xfrm>
            <a:off x="839788" y="1847654"/>
            <a:ext cx="4410942" cy="4021334"/>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120"/>
              <a:buNone/>
            </a:pPr>
            <a:r>
              <a:rPr lang="en-IN" b="1" i="1" u="sng">
                <a:latin typeface="Times New Roman"/>
                <a:ea typeface="Times New Roman"/>
                <a:cs typeface="Times New Roman"/>
                <a:sym typeface="Times New Roman"/>
              </a:rPr>
              <a:t>Query:- </a:t>
            </a:r>
            <a:endParaRPr u="sng"/>
          </a:p>
          <a:p>
            <a:pPr marL="0" lvl="0" indent="0" algn="l" rtl="0">
              <a:spcBef>
                <a:spcPts val="1000"/>
              </a:spcBef>
              <a:spcAft>
                <a:spcPts val="0"/>
              </a:spcAft>
              <a:buSzPts val="1120"/>
              <a:buNone/>
            </a:pPr>
            <a:r>
              <a:rPr lang="en-IN" b="1" i="1">
                <a:latin typeface="Times New Roman"/>
                <a:ea typeface="Times New Roman"/>
                <a:cs typeface="Times New Roman"/>
                <a:sym typeface="Times New Roman"/>
              </a:rPr>
              <a:t>select gender, COUNT(*) AS total_transactions</a:t>
            </a:r>
            <a:r>
              <a:rPr lang="en-IN" b="1">
                <a:latin typeface="Times New Roman"/>
                <a:ea typeface="Times New Roman"/>
                <a:cs typeface="Times New Roman"/>
                <a:sym typeface="Times New Roman"/>
              </a:rPr>
              <a:t> </a:t>
            </a:r>
            <a:r>
              <a:rPr lang="en-IN" b="1" i="1">
                <a:latin typeface="Times New Roman"/>
                <a:ea typeface="Times New Roman"/>
                <a:cs typeface="Times New Roman"/>
                <a:sym typeface="Times New Roman"/>
              </a:rPr>
              <a:t>FROM customer</a:t>
            </a:r>
            <a:r>
              <a:rPr lang="en-IN" b="1">
                <a:latin typeface="Times New Roman"/>
                <a:ea typeface="Times New Roman"/>
                <a:cs typeface="Times New Roman"/>
                <a:sym typeface="Times New Roman"/>
              </a:rPr>
              <a:t> </a:t>
            </a:r>
            <a:r>
              <a:rPr lang="en-IN" b="1" i="1">
                <a:latin typeface="Times New Roman"/>
                <a:ea typeface="Times New Roman"/>
                <a:cs typeface="Times New Roman"/>
                <a:sym typeface="Times New Roman"/>
              </a:rPr>
              <a:t>GROUP BY gender</a:t>
            </a:r>
            <a:r>
              <a:rPr lang="en-IN" b="1">
                <a:latin typeface="Times New Roman"/>
                <a:ea typeface="Times New Roman"/>
                <a:cs typeface="Times New Roman"/>
                <a:sym typeface="Times New Roman"/>
              </a:rPr>
              <a:t> </a:t>
            </a:r>
            <a:r>
              <a:rPr lang="en-IN" b="1" i="1">
                <a:latin typeface="Times New Roman"/>
                <a:ea typeface="Times New Roman"/>
                <a:cs typeface="Times New Roman"/>
                <a:sym typeface="Times New Roman"/>
              </a:rPr>
              <a:t>ORDER BY total_transactions DESC;</a:t>
            </a:r>
            <a:endParaRPr b="1">
              <a:latin typeface="Times New Roman"/>
              <a:ea typeface="Times New Roman"/>
              <a:cs typeface="Times New Roman"/>
              <a:sym typeface="Times New Roman"/>
            </a:endParaRPr>
          </a:p>
          <a:p>
            <a:pPr marL="0" lvl="0" indent="0" algn="l" rtl="0">
              <a:spcBef>
                <a:spcPts val="1000"/>
              </a:spcBef>
              <a:spcAft>
                <a:spcPts val="0"/>
              </a:spcAft>
              <a:buSzPts val="1120"/>
              <a:buNone/>
            </a:pPr>
            <a:endParaRPr>
              <a:latin typeface="Times New Roman"/>
              <a:ea typeface="Times New Roman"/>
              <a:cs typeface="Times New Roman"/>
              <a:sym typeface="Times New Roman"/>
            </a:endParaRPr>
          </a:p>
          <a:p>
            <a:pPr marL="0" lvl="0" indent="0" algn="l" rtl="0">
              <a:spcBef>
                <a:spcPts val="1000"/>
              </a:spcBef>
              <a:spcAft>
                <a:spcPts val="0"/>
              </a:spcAft>
              <a:buSzPts val="1120"/>
              <a:buNone/>
            </a:pPr>
            <a:r>
              <a:rPr lang="en-IN" b="1" i="1" u="sng">
                <a:latin typeface="Times New Roman"/>
                <a:ea typeface="Times New Roman"/>
                <a:cs typeface="Times New Roman"/>
                <a:sym typeface="Times New Roman"/>
              </a:rPr>
              <a:t>Insight:-</a:t>
            </a:r>
            <a:endParaRPr u="sng"/>
          </a:p>
          <a:p>
            <a:pPr marL="0" lvl="0" indent="0" algn="l" rtl="0">
              <a:spcBef>
                <a:spcPts val="1000"/>
              </a:spcBef>
              <a:spcAft>
                <a:spcPts val="0"/>
              </a:spcAft>
              <a:buSzPts val="1120"/>
              <a:buNone/>
            </a:pPr>
            <a:br>
              <a:rPr lang="en-IN">
                <a:latin typeface="Times New Roman"/>
                <a:ea typeface="Times New Roman"/>
                <a:cs typeface="Times New Roman"/>
                <a:sym typeface="Times New Roman"/>
              </a:rPr>
            </a:br>
            <a:r>
              <a:rPr lang="en-IN">
                <a:latin typeface="Times New Roman"/>
                <a:ea typeface="Times New Roman"/>
                <a:cs typeface="Times New Roman"/>
                <a:sym typeface="Times New Roman"/>
              </a:rPr>
              <a:t>S</a:t>
            </a:r>
            <a:r>
              <a:rPr lang="en-IN" sz="1600">
                <a:latin typeface="Times New Roman"/>
                <a:ea typeface="Times New Roman"/>
                <a:cs typeface="Times New Roman"/>
                <a:sym typeface="Times New Roman"/>
              </a:rPr>
              <a:t>hows how many purchases were made by each gender. Counts number of transactions (sum of quantity) per gender.</a:t>
            </a:r>
            <a:endParaRPr sz="1600"/>
          </a:p>
          <a:p>
            <a:pPr marL="0" lvl="0" indent="0" algn="l" rtl="0">
              <a:spcBef>
                <a:spcPts val="1000"/>
              </a:spcBef>
              <a:spcAft>
                <a:spcPts val="0"/>
              </a:spcAft>
              <a:buSzPts val="1120"/>
              <a:buNone/>
            </a:pPr>
            <a:r>
              <a:rPr lang="en-IN" sz="1600">
                <a:latin typeface="Times New Roman"/>
                <a:ea typeface="Times New Roman"/>
                <a:cs typeface="Times New Roman"/>
                <a:sym typeface="Times New Roman"/>
              </a:rPr>
              <a:t>total_transactions = number of invoice rows for that gender.</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7"/>
          <p:cNvSpPr txBox="1">
            <a:spLocks noGrp="1"/>
          </p:cNvSpPr>
          <p:nvPr>
            <p:ph type="title"/>
          </p:nvPr>
        </p:nvSpPr>
        <p:spPr>
          <a:xfrm>
            <a:off x="839788" y="457200"/>
            <a:ext cx="10512300" cy="7683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lt2"/>
              </a:buClr>
              <a:buSzPts val="2400"/>
              <a:buFont typeface="Times New Roman"/>
              <a:buNone/>
            </a:pPr>
            <a:r>
              <a:rPr lang="en-IN" sz="3100" u="sng" dirty="0">
                <a:latin typeface="Times New Roman"/>
                <a:ea typeface="Times New Roman"/>
                <a:cs typeface="Times New Roman"/>
                <a:sym typeface="Times New Roman"/>
              </a:rPr>
              <a:t>2. Which gender did we sell more products to?</a:t>
            </a:r>
            <a:endParaRPr sz="3100" u="sng" dirty="0">
              <a:latin typeface="Times New Roman"/>
              <a:ea typeface="Times New Roman"/>
              <a:cs typeface="Times New Roman"/>
              <a:sym typeface="Times New Roman"/>
            </a:endParaRPr>
          </a:p>
        </p:txBody>
      </p:sp>
      <p:pic>
        <p:nvPicPr>
          <p:cNvPr id="92" name="Google Shape;92;p17"/>
          <p:cNvPicPr preferRelativeResize="0">
            <a:picLocks noGrp="1"/>
          </p:cNvPicPr>
          <p:nvPr>
            <p:ph type="body" idx="1"/>
          </p:nvPr>
        </p:nvPicPr>
        <p:blipFill rotWithShape="1">
          <a:blip r:embed="rId3">
            <a:alphaModFix/>
          </a:blip>
          <a:srcRect/>
          <a:stretch/>
        </p:blipFill>
        <p:spPr>
          <a:xfrm>
            <a:off x="5824412" y="1960775"/>
            <a:ext cx="5864825" cy="2262433"/>
          </a:xfrm>
          <a:prstGeom prst="rect">
            <a:avLst/>
          </a:prstGeom>
          <a:noFill/>
          <a:ln>
            <a:noFill/>
          </a:ln>
        </p:spPr>
      </p:pic>
      <p:sp>
        <p:nvSpPr>
          <p:cNvPr id="93" name="Google Shape;93;p17"/>
          <p:cNvSpPr txBox="1">
            <a:spLocks noGrp="1"/>
          </p:cNvSpPr>
          <p:nvPr>
            <p:ph type="body" idx="2"/>
          </p:nvPr>
        </p:nvSpPr>
        <p:spPr>
          <a:xfrm>
            <a:off x="650450" y="1885349"/>
            <a:ext cx="4741800" cy="3998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20"/>
              <a:buNone/>
            </a:pPr>
            <a:r>
              <a:rPr lang="en-IN" sz="1700" b="1" i="1" u="sng">
                <a:latin typeface="Times New Roman"/>
                <a:ea typeface="Times New Roman"/>
                <a:cs typeface="Times New Roman"/>
                <a:sym typeface="Times New Roman"/>
              </a:rPr>
              <a:t>Query:-</a:t>
            </a:r>
            <a:endParaRPr sz="1700" b="1" u="sng"/>
          </a:p>
          <a:p>
            <a:pPr marL="0" lvl="0" indent="0" algn="l" rtl="0">
              <a:spcBef>
                <a:spcPts val="1000"/>
              </a:spcBef>
              <a:spcAft>
                <a:spcPts val="0"/>
              </a:spcAft>
              <a:buSzPts val="1120"/>
              <a:buNone/>
            </a:pPr>
            <a:r>
              <a:rPr lang="en-IN" sz="1700" i="1">
                <a:latin typeface="Times New Roman"/>
                <a:ea typeface="Times New Roman"/>
                <a:cs typeface="Times New Roman"/>
                <a:sym typeface="Times New Roman"/>
              </a:rPr>
              <a:t>select gender, sum(quantity) as total_product</a:t>
            </a:r>
            <a:r>
              <a:rPr lang="en-IN" sz="1700">
                <a:latin typeface="Times New Roman"/>
                <a:ea typeface="Times New Roman"/>
                <a:cs typeface="Times New Roman"/>
                <a:sym typeface="Times New Roman"/>
              </a:rPr>
              <a:t> </a:t>
            </a:r>
            <a:r>
              <a:rPr lang="en-IN" sz="1700" i="1">
                <a:latin typeface="Times New Roman"/>
                <a:ea typeface="Times New Roman"/>
                <a:cs typeface="Times New Roman"/>
                <a:sym typeface="Times New Roman"/>
              </a:rPr>
              <a:t>FROM customer</a:t>
            </a:r>
            <a:r>
              <a:rPr lang="en-IN" sz="1700">
                <a:latin typeface="Times New Roman"/>
                <a:ea typeface="Times New Roman"/>
                <a:cs typeface="Times New Roman"/>
                <a:sym typeface="Times New Roman"/>
              </a:rPr>
              <a:t> </a:t>
            </a:r>
            <a:r>
              <a:rPr lang="en-IN" sz="1700" i="1">
                <a:latin typeface="Times New Roman"/>
                <a:ea typeface="Times New Roman"/>
                <a:cs typeface="Times New Roman"/>
                <a:sym typeface="Times New Roman"/>
              </a:rPr>
              <a:t>GROUP BY gender</a:t>
            </a:r>
            <a:r>
              <a:rPr lang="en-IN" sz="1700">
                <a:latin typeface="Times New Roman"/>
                <a:ea typeface="Times New Roman"/>
                <a:cs typeface="Times New Roman"/>
                <a:sym typeface="Times New Roman"/>
              </a:rPr>
              <a:t> </a:t>
            </a:r>
            <a:r>
              <a:rPr lang="en-IN" sz="1700" i="1">
                <a:latin typeface="Times New Roman"/>
                <a:ea typeface="Times New Roman"/>
                <a:cs typeface="Times New Roman"/>
                <a:sym typeface="Times New Roman"/>
              </a:rPr>
              <a:t>ORDER BY total_product DESC;</a:t>
            </a:r>
            <a:endParaRPr sz="1700">
              <a:latin typeface="Times New Roman"/>
              <a:ea typeface="Times New Roman"/>
              <a:cs typeface="Times New Roman"/>
              <a:sym typeface="Times New Roman"/>
            </a:endParaRPr>
          </a:p>
          <a:p>
            <a:pPr marL="0" lvl="0" indent="0" algn="l" rtl="0">
              <a:spcBef>
                <a:spcPts val="1000"/>
              </a:spcBef>
              <a:spcAft>
                <a:spcPts val="0"/>
              </a:spcAft>
              <a:buSzPts val="1120"/>
              <a:buNone/>
            </a:pPr>
            <a:endParaRPr sz="1700">
              <a:latin typeface="Times New Roman"/>
              <a:ea typeface="Times New Roman"/>
              <a:cs typeface="Times New Roman"/>
              <a:sym typeface="Times New Roman"/>
            </a:endParaRPr>
          </a:p>
          <a:p>
            <a:pPr marL="0" lvl="0" indent="0" algn="l" rtl="0">
              <a:spcBef>
                <a:spcPts val="1000"/>
              </a:spcBef>
              <a:spcAft>
                <a:spcPts val="0"/>
              </a:spcAft>
              <a:buSzPts val="1120"/>
              <a:buNone/>
            </a:pPr>
            <a:r>
              <a:rPr lang="en-IN" sz="1700" b="1" i="1" u="sng">
                <a:latin typeface="Times New Roman"/>
                <a:ea typeface="Times New Roman"/>
                <a:cs typeface="Times New Roman"/>
                <a:sym typeface="Times New Roman"/>
              </a:rPr>
              <a:t>Insight:-</a:t>
            </a:r>
            <a:endParaRPr sz="1700" u="sng"/>
          </a:p>
          <a:p>
            <a:pPr marL="0" lvl="0" indent="0" algn="l" rtl="0">
              <a:spcBef>
                <a:spcPts val="1000"/>
              </a:spcBef>
              <a:spcAft>
                <a:spcPts val="0"/>
              </a:spcAft>
              <a:buSzPts val="1120"/>
              <a:buNone/>
            </a:pPr>
            <a:br>
              <a:rPr lang="en-IN" sz="1700">
                <a:latin typeface="Times New Roman"/>
                <a:ea typeface="Times New Roman"/>
                <a:cs typeface="Times New Roman"/>
                <a:sym typeface="Times New Roman"/>
              </a:rPr>
            </a:br>
            <a:r>
              <a:rPr lang="en-IN" sz="1700">
                <a:latin typeface="Times New Roman"/>
                <a:ea typeface="Times New Roman"/>
                <a:cs typeface="Times New Roman"/>
                <a:sym typeface="Times New Roman"/>
              </a:rPr>
              <a:t>Identifies which gender bought more items (not the number of transactions).</a:t>
            </a:r>
            <a:endParaRPr sz="1700"/>
          </a:p>
          <a:p>
            <a:pPr marL="0" lvl="0" indent="0" algn="l" rtl="0">
              <a:spcBef>
                <a:spcPts val="1000"/>
              </a:spcBef>
              <a:spcAft>
                <a:spcPts val="0"/>
              </a:spcAft>
              <a:buSzPts val="1120"/>
              <a:buNone/>
            </a:pPr>
            <a:r>
              <a:rPr lang="en-IN" sz="1700">
                <a:latin typeface="Times New Roman"/>
                <a:ea typeface="Times New Roman"/>
                <a:cs typeface="Times New Roman"/>
                <a:sym typeface="Times New Roman"/>
              </a:rPr>
              <a:t>If a gender has higher total_product — they bought more physical units overall.</a:t>
            </a:r>
            <a:endParaRPr sz="17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8"/>
          <p:cNvSpPr txBox="1">
            <a:spLocks noGrp="1"/>
          </p:cNvSpPr>
          <p:nvPr>
            <p:ph type="title"/>
          </p:nvPr>
        </p:nvSpPr>
        <p:spPr>
          <a:xfrm>
            <a:off x="839788" y="457200"/>
            <a:ext cx="10512424" cy="740004"/>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2"/>
              </a:buClr>
              <a:buSzPts val="2400"/>
              <a:buFont typeface="Times New Roman"/>
              <a:buNone/>
            </a:pPr>
            <a:r>
              <a:rPr lang="en-IN" sz="3300" u="sng" dirty="0">
                <a:latin typeface="Times New Roman"/>
                <a:ea typeface="Times New Roman"/>
                <a:cs typeface="Times New Roman"/>
                <a:sym typeface="Times New Roman"/>
              </a:rPr>
              <a:t>3. Which gender generated more revenue?</a:t>
            </a:r>
            <a:endParaRPr sz="3300" u="sng" dirty="0">
              <a:latin typeface="Times New Roman"/>
              <a:ea typeface="Times New Roman"/>
              <a:cs typeface="Times New Roman"/>
              <a:sym typeface="Times New Roman"/>
            </a:endParaRPr>
          </a:p>
        </p:txBody>
      </p:sp>
      <p:pic>
        <p:nvPicPr>
          <p:cNvPr id="100" name="Google Shape;100;p18"/>
          <p:cNvPicPr preferRelativeResize="0">
            <a:picLocks noGrp="1"/>
          </p:cNvPicPr>
          <p:nvPr>
            <p:ph type="body" idx="1"/>
          </p:nvPr>
        </p:nvPicPr>
        <p:blipFill rotWithShape="1">
          <a:blip r:embed="rId3">
            <a:alphaModFix/>
          </a:blip>
          <a:srcRect/>
          <a:stretch/>
        </p:blipFill>
        <p:spPr>
          <a:xfrm>
            <a:off x="5903913" y="2057400"/>
            <a:ext cx="5719336" cy="2128101"/>
          </a:xfrm>
          <a:prstGeom prst="rect">
            <a:avLst/>
          </a:prstGeom>
          <a:noFill/>
          <a:ln>
            <a:noFill/>
          </a:ln>
        </p:spPr>
      </p:pic>
      <p:sp>
        <p:nvSpPr>
          <p:cNvPr id="101" name="Google Shape;101;p18"/>
          <p:cNvSpPr txBox="1">
            <a:spLocks noGrp="1"/>
          </p:cNvSpPr>
          <p:nvPr>
            <p:ph type="body" idx="2"/>
          </p:nvPr>
        </p:nvSpPr>
        <p:spPr>
          <a:xfrm>
            <a:off x="839788" y="2057400"/>
            <a:ext cx="4731453" cy="3504414"/>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120"/>
              <a:buNone/>
            </a:pPr>
            <a:r>
              <a:rPr lang="en-IN" sz="1700" b="1" i="1" u="sng">
                <a:latin typeface="Times New Roman"/>
                <a:ea typeface="Times New Roman"/>
                <a:cs typeface="Times New Roman"/>
                <a:sym typeface="Times New Roman"/>
              </a:rPr>
              <a:t>Query:-</a:t>
            </a:r>
            <a:endParaRPr sz="1700" u="sng"/>
          </a:p>
          <a:p>
            <a:pPr marL="0" lvl="0" indent="0" algn="l" rtl="0">
              <a:spcBef>
                <a:spcPts val="1000"/>
              </a:spcBef>
              <a:spcAft>
                <a:spcPts val="0"/>
              </a:spcAft>
              <a:buSzPts val="1120"/>
              <a:buNone/>
            </a:pPr>
            <a:r>
              <a:rPr lang="en-IN" sz="1700" i="1">
                <a:latin typeface="Times New Roman"/>
                <a:ea typeface="Times New Roman"/>
                <a:cs typeface="Times New Roman"/>
                <a:sym typeface="Times New Roman"/>
              </a:rPr>
              <a:t>select gender, sum(price*quantity) as total_revenue</a:t>
            </a:r>
            <a:r>
              <a:rPr lang="en-IN" sz="1700">
                <a:latin typeface="Times New Roman"/>
                <a:ea typeface="Times New Roman"/>
                <a:cs typeface="Times New Roman"/>
                <a:sym typeface="Times New Roman"/>
              </a:rPr>
              <a:t> </a:t>
            </a:r>
            <a:r>
              <a:rPr lang="en-IN" sz="1700" i="1">
                <a:latin typeface="Times New Roman"/>
                <a:ea typeface="Times New Roman"/>
                <a:cs typeface="Times New Roman"/>
                <a:sym typeface="Times New Roman"/>
              </a:rPr>
              <a:t>FROM customer</a:t>
            </a:r>
            <a:r>
              <a:rPr lang="en-IN" sz="1700">
                <a:latin typeface="Times New Roman"/>
                <a:ea typeface="Times New Roman"/>
                <a:cs typeface="Times New Roman"/>
                <a:sym typeface="Times New Roman"/>
              </a:rPr>
              <a:t> </a:t>
            </a:r>
            <a:r>
              <a:rPr lang="en-IN" sz="1700" i="1">
                <a:latin typeface="Times New Roman"/>
                <a:ea typeface="Times New Roman"/>
                <a:cs typeface="Times New Roman"/>
                <a:sym typeface="Times New Roman"/>
              </a:rPr>
              <a:t>GROUP BY gender</a:t>
            </a:r>
            <a:r>
              <a:rPr lang="en-IN" sz="1700">
                <a:latin typeface="Times New Roman"/>
                <a:ea typeface="Times New Roman"/>
                <a:cs typeface="Times New Roman"/>
                <a:sym typeface="Times New Roman"/>
              </a:rPr>
              <a:t> </a:t>
            </a:r>
            <a:r>
              <a:rPr lang="en-IN" sz="1700" i="1">
                <a:latin typeface="Times New Roman"/>
                <a:ea typeface="Times New Roman"/>
                <a:cs typeface="Times New Roman"/>
                <a:sym typeface="Times New Roman"/>
              </a:rPr>
              <a:t>ORDER BY total_revenue DESC;</a:t>
            </a:r>
            <a:endParaRPr sz="1700">
              <a:latin typeface="Times New Roman"/>
              <a:ea typeface="Times New Roman"/>
              <a:cs typeface="Times New Roman"/>
              <a:sym typeface="Times New Roman"/>
            </a:endParaRPr>
          </a:p>
          <a:p>
            <a:pPr marL="0" lvl="0" indent="0" algn="l" rtl="0">
              <a:spcBef>
                <a:spcPts val="1000"/>
              </a:spcBef>
              <a:spcAft>
                <a:spcPts val="0"/>
              </a:spcAft>
              <a:buSzPts val="1120"/>
              <a:buNone/>
            </a:pPr>
            <a:endParaRPr sz="1700">
              <a:latin typeface="Times New Roman"/>
              <a:ea typeface="Times New Roman"/>
              <a:cs typeface="Times New Roman"/>
              <a:sym typeface="Times New Roman"/>
            </a:endParaRPr>
          </a:p>
          <a:p>
            <a:pPr marL="0" lvl="0" indent="0" algn="l" rtl="0">
              <a:spcBef>
                <a:spcPts val="1000"/>
              </a:spcBef>
              <a:spcAft>
                <a:spcPts val="0"/>
              </a:spcAft>
              <a:buSzPts val="1120"/>
              <a:buNone/>
            </a:pPr>
            <a:r>
              <a:rPr lang="en-IN" sz="1700" b="1" i="1" u="sng">
                <a:latin typeface="Times New Roman"/>
                <a:ea typeface="Times New Roman"/>
                <a:cs typeface="Times New Roman"/>
                <a:sym typeface="Times New Roman"/>
              </a:rPr>
              <a:t>Insight:-</a:t>
            </a:r>
            <a:endParaRPr sz="1700" u="sng"/>
          </a:p>
          <a:p>
            <a:pPr marL="0" lvl="0" indent="0" algn="l" rtl="0">
              <a:spcBef>
                <a:spcPts val="1000"/>
              </a:spcBef>
              <a:spcAft>
                <a:spcPts val="0"/>
              </a:spcAft>
              <a:buSzPts val="1120"/>
              <a:buNone/>
            </a:pPr>
            <a:r>
              <a:rPr lang="en-IN" sz="1700">
                <a:latin typeface="Times New Roman"/>
                <a:ea typeface="Times New Roman"/>
                <a:cs typeface="Times New Roman"/>
                <a:sym typeface="Times New Roman"/>
              </a:rPr>
              <a:t>Finds which gender generated the highest revenue.</a:t>
            </a:r>
            <a:endParaRPr sz="1700"/>
          </a:p>
          <a:p>
            <a:pPr marL="0" lvl="0" indent="0" algn="l" rtl="0">
              <a:spcBef>
                <a:spcPts val="1000"/>
              </a:spcBef>
              <a:spcAft>
                <a:spcPts val="0"/>
              </a:spcAft>
              <a:buSzPts val="1120"/>
              <a:buNone/>
            </a:pPr>
            <a:r>
              <a:rPr lang="en-IN" sz="1700">
                <a:latin typeface="Times New Roman"/>
                <a:ea typeface="Times New Roman"/>
                <a:cs typeface="Times New Roman"/>
                <a:sym typeface="Times New Roman"/>
              </a:rPr>
              <a:t>Computes revenue per row as quantity * price then sums per gender.</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9"/>
          <p:cNvSpPr txBox="1">
            <a:spLocks noGrp="1"/>
          </p:cNvSpPr>
          <p:nvPr>
            <p:ph type="title"/>
          </p:nvPr>
        </p:nvSpPr>
        <p:spPr>
          <a:xfrm>
            <a:off x="839788" y="457200"/>
            <a:ext cx="10512424" cy="740004"/>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2"/>
              </a:buClr>
              <a:buSzPts val="2400"/>
              <a:buFont typeface="Times New Roman"/>
              <a:buNone/>
            </a:pPr>
            <a:r>
              <a:rPr lang="en-IN" sz="2800" u="sng" dirty="0">
                <a:latin typeface="Times New Roman"/>
                <a:ea typeface="Times New Roman"/>
                <a:cs typeface="Times New Roman"/>
                <a:sym typeface="Times New Roman"/>
              </a:rPr>
              <a:t>4. Distribution of purchase categories relative to other columns?</a:t>
            </a:r>
            <a:endParaRPr sz="2800" u="sng" dirty="0">
              <a:latin typeface="Times New Roman"/>
              <a:ea typeface="Times New Roman"/>
              <a:cs typeface="Times New Roman"/>
              <a:sym typeface="Times New Roman"/>
            </a:endParaRPr>
          </a:p>
        </p:txBody>
      </p:sp>
      <p:pic>
        <p:nvPicPr>
          <p:cNvPr id="108" name="Google Shape;108;p19"/>
          <p:cNvPicPr preferRelativeResize="0">
            <a:picLocks noGrp="1"/>
          </p:cNvPicPr>
          <p:nvPr>
            <p:ph type="body" idx="1"/>
          </p:nvPr>
        </p:nvPicPr>
        <p:blipFill rotWithShape="1">
          <a:blip r:embed="rId3">
            <a:alphaModFix/>
          </a:blip>
          <a:srcRect/>
          <a:stretch/>
        </p:blipFill>
        <p:spPr>
          <a:xfrm>
            <a:off x="5705925" y="1724800"/>
            <a:ext cx="5128200" cy="2238300"/>
          </a:xfrm>
          <a:prstGeom prst="rect">
            <a:avLst/>
          </a:prstGeom>
          <a:noFill/>
          <a:ln>
            <a:noFill/>
          </a:ln>
        </p:spPr>
      </p:pic>
      <p:sp>
        <p:nvSpPr>
          <p:cNvPr id="109" name="Google Shape;109;p19"/>
          <p:cNvSpPr txBox="1">
            <a:spLocks noGrp="1"/>
          </p:cNvSpPr>
          <p:nvPr>
            <p:ph type="body" idx="2"/>
          </p:nvPr>
        </p:nvSpPr>
        <p:spPr>
          <a:xfrm>
            <a:off x="527901" y="1583703"/>
            <a:ext cx="5023829" cy="4996205"/>
          </a:xfrm>
          <a:prstGeom prst="rect">
            <a:avLst/>
          </a:prstGeom>
          <a:noFill/>
          <a:ln>
            <a:noFill/>
          </a:ln>
        </p:spPr>
        <p:txBody>
          <a:bodyPr spcFirstLastPara="1" wrap="square" lIns="91425" tIns="45700" rIns="91425" bIns="45700" anchor="t" anchorCtr="0">
            <a:normAutofit fontScale="40000" lnSpcReduction="20000"/>
          </a:bodyPr>
          <a:lstStyle/>
          <a:p>
            <a:pPr marL="0" lvl="0" indent="0" algn="l" rtl="0">
              <a:spcBef>
                <a:spcPts val="0"/>
              </a:spcBef>
              <a:spcAft>
                <a:spcPts val="0"/>
              </a:spcAft>
              <a:buSzPct val="35816"/>
              <a:buNone/>
            </a:pPr>
            <a:r>
              <a:rPr lang="en-IN" sz="3127" b="1" i="1" u="sng">
                <a:latin typeface="Times New Roman"/>
                <a:ea typeface="Times New Roman"/>
                <a:cs typeface="Times New Roman"/>
                <a:sym typeface="Times New Roman"/>
              </a:rPr>
              <a:t>Query for Category vs Gender:-</a:t>
            </a:r>
            <a:endParaRPr sz="3127" u="sng"/>
          </a:p>
          <a:p>
            <a:pPr marL="0" lvl="0" indent="0" algn="l" rtl="0">
              <a:spcBef>
                <a:spcPts val="1000"/>
              </a:spcBef>
              <a:spcAft>
                <a:spcPts val="0"/>
              </a:spcAft>
              <a:buSzPct val="35816"/>
              <a:buNone/>
            </a:pPr>
            <a:r>
              <a:rPr lang="en-IN" sz="3127" i="1">
                <a:latin typeface="Times New Roman"/>
                <a:ea typeface="Times New Roman"/>
                <a:cs typeface="Times New Roman"/>
                <a:sym typeface="Times New Roman"/>
              </a:rPr>
              <a:t>SELECT category, gender, COUNT(*) AS total_purchases</a:t>
            </a:r>
            <a:r>
              <a:rPr lang="en-IN" sz="3127">
                <a:latin typeface="Times New Roman"/>
                <a:ea typeface="Times New Roman"/>
                <a:cs typeface="Times New Roman"/>
                <a:sym typeface="Times New Roman"/>
              </a:rPr>
              <a:t> </a:t>
            </a:r>
            <a:r>
              <a:rPr lang="en-IN" sz="3127" i="1">
                <a:latin typeface="Times New Roman"/>
                <a:ea typeface="Times New Roman"/>
                <a:cs typeface="Times New Roman"/>
                <a:sym typeface="Times New Roman"/>
              </a:rPr>
              <a:t>FROM customer GROUP BY category, gender ORDER BY category, total_purchases DESC;</a:t>
            </a:r>
            <a:endParaRPr sz="3127">
              <a:latin typeface="Times New Roman"/>
              <a:ea typeface="Times New Roman"/>
              <a:cs typeface="Times New Roman"/>
              <a:sym typeface="Times New Roman"/>
            </a:endParaRPr>
          </a:p>
          <a:p>
            <a:pPr marL="0" lvl="0" indent="0" algn="l" rtl="0">
              <a:spcBef>
                <a:spcPts val="1000"/>
              </a:spcBef>
              <a:spcAft>
                <a:spcPts val="0"/>
              </a:spcAft>
              <a:buSzPct val="35816"/>
              <a:buNone/>
            </a:pPr>
            <a:endParaRPr sz="3127">
              <a:latin typeface="Times New Roman"/>
              <a:ea typeface="Times New Roman"/>
              <a:cs typeface="Times New Roman"/>
              <a:sym typeface="Times New Roman"/>
            </a:endParaRPr>
          </a:p>
          <a:p>
            <a:pPr marL="0" lvl="0" indent="0" algn="l" rtl="0">
              <a:spcBef>
                <a:spcPts val="1000"/>
              </a:spcBef>
              <a:spcAft>
                <a:spcPts val="0"/>
              </a:spcAft>
              <a:buSzPct val="35816"/>
              <a:buNone/>
            </a:pPr>
            <a:r>
              <a:rPr lang="en-IN" sz="3127" b="1" i="1" u="sng">
                <a:latin typeface="Times New Roman"/>
                <a:ea typeface="Times New Roman"/>
                <a:cs typeface="Times New Roman"/>
                <a:sym typeface="Times New Roman"/>
              </a:rPr>
              <a:t>Query for Category vs Age Group:-</a:t>
            </a:r>
            <a:endParaRPr sz="3127" u="sng"/>
          </a:p>
          <a:p>
            <a:pPr marL="0" lvl="0" indent="0" algn="l" rtl="0">
              <a:spcBef>
                <a:spcPts val="1000"/>
              </a:spcBef>
              <a:spcAft>
                <a:spcPts val="0"/>
              </a:spcAft>
              <a:buSzPct val="35816"/>
              <a:buNone/>
            </a:pPr>
            <a:r>
              <a:rPr lang="en-IN" sz="3127" i="1">
                <a:latin typeface="Times New Roman"/>
                <a:ea typeface="Times New Roman"/>
                <a:cs typeface="Times New Roman"/>
                <a:sym typeface="Times New Roman"/>
              </a:rPr>
              <a:t>SELECT category,</a:t>
            </a:r>
            <a:endParaRPr sz="3127">
              <a:latin typeface="Times New Roman"/>
              <a:ea typeface="Times New Roman"/>
              <a:cs typeface="Times New Roman"/>
              <a:sym typeface="Times New Roman"/>
            </a:endParaRPr>
          </a:p>
          <a:p>
            <a:pPr marL="0" lvl="0" indent="0" algn="l" rtl="0">
              <a:spcBef>
                <a:spcPts val="600"/>
              </a:spcBef>
              <a:spcAft>
                <a:spcPts val="0"/>
              </a:spcAft>
              <a:buSzPct val="35816"/>
              <a:buNone/>
            </a:pPr>
            <a:r>
              <a:rPr lang="en-IN" sz="3127" i="1">
                <a:latin typeface="Times New Roman"/>
                <a:ea typeface="Times New Roman"/>
                <a:cs typeface="Times New Roman"/>
                <a:sym typeface="Times New Roman"/>
              </a:rPr>
              <a:t>    CASE</a:t>
            </a:r>
            <a:endParaRPr sz="3127">
              <a:latin typeface="Times New Roman"/>
              <a:ea typeface="Times New Roman"/>
              <a:cs typeface="Times New Roman"/>
              <a:sym typeface="Times New Roman"/>
            </a:endParaRPr>
          </a:p>
          <a:p>
            <a:pPr marL="0" lvl="0" indent="0" algn="l" rtl="0">
              <a:spcBef>
                <a:spcPts val="600"/>
              </a:spcBef>
              <a:spcAft>
                <a:spcPts val="0"/>
              </a:spcAft>
              <a:buSzPct val="35816"/>
              <a:buNone/>
            </a:pPr>
            <a:r>
              <a:rPr lang="en-IN" sz="3127" i="1">
                <a:latin typeface="Times New Roman"/>
                <a:ea typeface="Times New Roman"/>
                <a:cs typeface="Times New Roman"/>
                <a:sym typeface="Times New Roman"/>
              </a:rPr>
              <a:t>        WHEN age &lt; 18 THEN '&lt;18'</a:t>
            </a:r>
            <a:endParaRPr sz="3127">
              <a:latin typeface="Times New Roman"/>
              <a:ea typeface="Times New Roman"/>
              <a:cs typeface="Times New Roman"/>
              <a:sym typeface="Times New Roman"/>
            </a:endParaRPr>
          </a:p>
          <a:p>
            <a:pPr marL="0" lvl="0" indent="0" algn="l" rtl="0">
              <a:spcBef>
                <a:spcPts val="600"/>
              </a:spcBef>
              <a:spcAft>
                <a:spcPts val="0"/>
              </a:spcAft>
              <a:buSzPct val="35816"/>
              <a:buNone/>
            </a:pPr>
            <a:r>
              <a:rPr lang="en-IN" sz="3127" i="1">
                <a:latin typeface="Times New Roman"/>
                <a:ea typeface="Times New Roman"/>
                <a:cs typeface="Times New Roman"/>
                <a:sym typeface="Times New Roman"/>
              </a:rPr>
              <a:t>        WHEN age BETWEEN 18 AND 24 THEN '18-24'</a:t>
            </a:r>
            <a:endParaRPr sz="3127">
              <a:latin typeface="Times New Roman"/>
              <a:ea typeface="Times New Roman"/>
              <a:cs typeface="Times New Roman"/>
              <a:sym typeface="Times New Roman"/>
            </a:endParaRPr>
          </a:p>
          <a:p>
            <a:pPr marL="0" lvl="0" indent="0" algn="l" rtl="0">
              <a:spcBef>
                <a:spcPts val="600"/>
              </a:spcBef>
              <a:spcAft>
                <a:spcPts val="0"/>
              </a:spcAft>
              <a:buSzPct val="35816"/>
              <a:buNone/>
            </a:pPr>
            <a:r>
              <a:rPr lang="en-IN" sz="3127" i="1">
                <a:latin typeface="Times New Roman"/>
                <a:ea typeface="Times New Roman"/>
                <a:cs typeface="Times New Roman"/>
                <a:sym typeface="Times New Roman"/>
              </a:rPr>
              <a:t>        WHEN age BETWEEN 25 AND 34 THEN '25-34'</a:t>
            </a:r>
            <a:endParaRPr sz="3127">
              <a:latin typeface="Times New Roman"/>
              <a:ea typeface="Times New Roman"/>
              <a:cs typeface="Times New Roman"/>
              <a:sym typeface="Times New Roman"/>
            </a:endParaRPr>
          </a:p>
          <a:p>
            <a:pPr marL="0" lvl="0" indent="0" algn="l" rtl="0">
              <a:spcBef>
                <a:spcPts val="600"/>
              </a:spcBef>
              <a:spcAft>
                <a:spcPts val="0"/>
              </a:spcAft>
              <a:buSzPct val="35816"/>
              <a:buNone/>
            </a:pPr>
            <a:r>
              <a:rPr lang="en-IN" sz="3127" i="1">
                <a:latin typeface="Times New Roman"/>
                <a:ea typeface="Times New Roman"/>
                <a:cs typeface="Times New Roman"/>
                <a:sym typeface="Times New Roman"/>
              </a:rPr>
              <a:t>        WHEN age BETWEEN 35 AND 44 THEN '35-44'</a:t>
            </a:r>
            <a:endParaRPr sz="3127">
              <a:latin typeface="Times New Roman"/>
              <a:ea typeface="Times New Roman"/>
              <a:cs typeface="Times New Roman"/>
              <a:sym typeface="Times New Roman"/>
            </a:endParaRPr>
          </a:p>
          <a:p>
            <a:pPr marL="0" lvl="0" indent="0" algn="l" rtl="0">
              <a:spcBef>
                <a:spcPts val="600"/>
              </a:spcBef>
              <a:spcAft>
                <a:spcPts val="0"/>
              </a:spcAft>
              <a:buSzPct val="35816"/>
              <a:buNone/>
            </a:pPr>
            <a:r>
              <a:rPr lang="en-IN" sz="3127" i="1">
                <a:latin typeface="Times New Roman"/>
                <a:ea typeface="Times New Roman"/>
                <a:cs typeface="Times New Roman"/>
                <a:sym typeface="Times New Roman"/>
              </a:rPr>
              <a:t>        WHEN age BETWEEN 45 AND 54 THEN '45-54'</a:t>
            </a:r>
            <a:endParaRPr sz="3127">
              <a:latin typeface="Times New Roman"/>
              <a:ea typeface="Times New Roman"/>
              <a:cs typeface="Times New Roman"/>
              <a:sym typeface="Times New Roman"/>
            </a:endParaRPr>
          </a:p>
          <a:p>
            <a:pPr marL="0" lvl="0" indent="0" algn="l" rtl="0">
              <a:spcBef>
                <a:spcPts val="600"/>
              </a:spcBef>
              <a:spcAft>
                <a:spcPts val="0"/>
              </a:spcAft>
              <a:buSzPct val="35816"/>
              <a:buNone/>
            </a:pPr>
            <a:r>
              <a:rPr lang="en-IN" sz="3127" i="1">
                <a:latin typeface="Times New Roman"/>
                <a:ea typeface="Times New Roman"/>
                <a:cs typeface="Times New Roman"/>
                <a:sym typeface="Times New Roman"/>
              </a:rPr>
              <a:t>        WHEN age BETWEEN 55 AND 64 THEN '55-64'</a:t>
            </a:r>
            <a:endParaRPr sz="3127">
              <a:latin typeface="Times New Roman"/>
              <a:ea typeface="Times New Roman"/>
              <a:cs typeface="Times New Roman"/>
              <a:sym typeface="Times New Roman"/>
            </a:endParaRPr>
          </a:p>
          <a:p>
            <a:pPr marL="0" lvl="0" indent="0" algn="l" rtl="0">
              <a:spcBef>
                <a:spcPts val="600"/>
              </a:spcBef>
              <a:spcAft>
                <a:spcPts val="0"/>
              </a:spcAft>
              <a:buSzPct val="35816"/>
              <a:buNone/>
            </a:pPr>
            <a:r>
              <a:rPr lang="en-IN" sz="3127" i="1">
                <a:latin typeface="Times New Roman"/>
                <a:ea typeface="Times New Roman"/>
                <a:cs typeface="Times New Roman"/>
                <a:sym typeface="Times New Roman"/>
              </a:rPr>
              <a:t>        ELSE '65+'</a:t>
            </a:r>
            <a:endParaRPr sz="3127">
              <a:latin typeface="Times New Roman"/>
              <a:ea typeface="Times New Roman"/>
              <a:cs typeface="Times New Roman"/>
              <a:sym typeface="Times New Roman"/>
            </a:endParaRPr>
          </a:p>
          <a:p>
            <a:pPr marL="0" lvl="0" indent="0" algn="l" rtl="0">
              <a:spcBef>
                <a:spcPts val="1000"/>
              </a:spcBef>
              <a:spcAft>
                <a:spcPts val="0"/>
              </a:spcAft>
              <a:buSzPct val="35816"/>
              <a:buNone/>
            </a:pPr>
            <a:r>
              <a:rPr lang="en-IN" sz="3127" i="1">
                <a:latin typeface="Times New Roman"/>
                <a:ea typeface="Times New Roman"/>
                <a:cs typeface="Times New Roman"/>
                <a:sym typeface="Times New Roman"/>
              </a:rPr>
              <a:t>    END AS age_group, COUNT(*) AS total_purchases FROM customer GROUP BY category, age_group ORDER BY category, age_group Asc;</a:t>
            </a:r>
            <a:endParaRPr sz="3127">
              <a:latin typeface="Times New Roman"/>
              <a:ea typeface="Times New Roman"/>
              <a:cs typeface="Times New Roman"/>
              <a:sym typeface="Times New Roman"/>
            </a:endParaRPr>
          </a:p>
          <a:p>
            <a:pPr marL="0" lvl="0" indent="0" algn="l" rtl="0">
              <a:spcBef>
                <a:spcPts val="1000"/>
              </a:spcBef>
              <a:spcAft>
                <a:spcPts val="0"/>
              </a:spcAft>
              <a:buSzPct val="80000"/>
              <a:buNone/>
            </a:pPr>
            <a:endParaRPr>
              <a:latin typeface="Times New Roman"/>
              <a:ea typeface="Times New Roman"/>
              <a:cs typeface="Times New Roman"/>
              <a:sym typeface="Times New Roman"/>
            </a:endParaRPr>
          </a:p>
          <a:p>
            <a:pPr marL="0" lvl="0" indent="0" algn="l" rtl="0">
              <a:spcBef>
                <a:spcPts val="1000"/>
              </a:spcBef>
              <a:spcAft>
                <a:spcPts val="0"/>
              </a:spcAft>
              <a:buSzPct val="80000"/>
              <a:buNone/>
            </a:pPr>
            <a:endParaRPr>
              <a:latin typeface="Times New Roman"/>
              <a:ea typeface="Times New Roman"/>
              <a:cs typeface="Times New Roman"/>
              <a:sym typeface="Times New Roman"/>
            </a:endParaRPr>
          </a:p>
        </p:txBody>
      </p:sp>
      <p:pic>
        <p:nvPicPr>
          <p:cNvPr id="110" name="Google Shape;110;p19"/>
          <p:cNvPicPr preferRelativeResize="0"/>
          <p:nvPr/>
        </p:nvPicPr>
        <p:blipFill rotWithShape="1">
          <a:blip r:embed="rId4">
            <a:alphaModFix/>
          </a:blip>
          <a:srcRect/>
          <a:stretch/>
        </p:blipFill>
        <p:spPr>
          <a:xfrm>
            <a:off x="5668075" y="4162400"/>
            <a:ext cx="5128200" cy="2238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0"/>
          <p:cNvSpPr txBox="1">
            <a:spLocks noGrp="1"/>
          </p:cNvSpPr>
          <p:nvPr>
            <p:ph type="title"/>
          </p:nvPr>
        </p:nvSpPr>
        <p:spPr>
          <a:xfrm>
            <a:off x="839788" y="457200"/>
            <a:ext cx="10512424" cy="740004"/>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2"/>
              </a:buClr>
              <a:buSzPts val="2400"/>
              <a:buFont typeface="Times New Roman"/>
              <a:buNone/>
            </a:pPr>
            <a:r>
              <a:rPr lang="en-IN" sz="2700" u="sng" dirty="0">
                <a:latin typeface="Times New Roman"/>
                <a:ea typeface="Times New Roman"/>
                <a:cs typeface="Times New Roman"/>
                <a:sym typeface="Times New Roman"/>
              </a:rPr>
              <a:t>2</a:t>
            </a:r>
            <a:r>
              <a:rPr lang="en-IN" sz="2700" u="sng" baseline="30000" dirty="0">
                <a:latin typeface="Times New Roman"/>
                <a:ea typeface="Times New Roman"/>
                <a:cs typeface="Times New Roman"/>
                <a:sym typeface="Times New Roman"/>
              </a:rPr>
              <a:t>nd</a:t>
            </a:r>
            <a:r>
              <a:rPr lang="en-IN" sz="2700" u="sng" dirty="0">
                <a:latin typeface="Times New Roman"/>
                <a:ea typeface="Times New Roman"/>
                <a:cs typeface="Times New Roman"/>
                <a:sym typeface="Times New Roman"/>
              </a:rPr>
              <a:t> slide for Distribution of purchase categories relative to other columns? </a:t>
            </a:r>
            <a:endParaRPr sz="2700" u="sng" dirty="0">
              <a:latin typeface="Times New Roman"/>
              <a:ea typeface="Times New Roman"/>
              <a:cs typeface="Times New Roman"/>
              <a:sym typeface="Times New Roman"/>
            </a:endParaRPr>
          </a:p>
        </p:txBody>
      </p:sp>
      <p:pic>
        <p:nvPicPr>
          <p:cNvPr id="117" name="Google Shape;117;p20"/>
          <p:cNvPicPr preferRelativeResize="0">
            <a:picLocks noGrp="1"/>
          </p:cNvPicPr>
          <p:nvPr>
            <p:ph type="body" idx="1"/>
          </p:nvPr>
        </p:nvPicPr>
        <p:blipFill rotWithShape="1">
          <a:blip r:embed="rId3">
            <a:alphaModFix/>
          </a:blip>
          <a:srcRect/>
          <a:stretch/>
        </p:blipFill>
        <p:spPr>
          <a:xfrm>
            <a:off x="5789879" y="1306982"/>
            <a:ext cx="4883401" cy="2218643"/>
          </a:xfrm>
          <a:prstGeom prst="rect">
            <a:avLst/>
          </a:prstGeom>
          <a:noFill/>
          <a:ln>
            <a:noFill/>
          </a:ln>
        </p:spPr>
      </p:pic>
      <p:sp>
        <p:nvSpPr>
          <p:cNvPr id="118" name="Google Shape;118;p20"/>
          <p:cNvSpPr txBox="1">
            <a:spLocks noGrp="1"/>
          </p:cNvSpPr>
          <p:nvPr>
            <p:ph type="body" idx="2"/>
          </p:nvPr>
        </p:nvSpPr>
        <p:spPr>
          <a:xfrm>
            <a:off x="839788" y="1630837"/>
            <a:ext cx="4297820" cy="501506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120"/>
              <a:buNone/>
            </a:pPr>
            <a:r>
              <a:rPr lang="en-IN" b="1" i="1" u="sng">
                <a:latin typeface="Times New Roman"/>
                <a:ea typeface="Times New Roman"/>
                <a:cs typeface="Times New Roman"/>
                <a:sym typeface="Times New Roman"/>
              </a:rPr>
              <a:t>Category vs Shopping Mall</a:t>
            </a:r>
            <a:endParaRPr i="1" u="sng"/>
          </a:p>
          <a:p>
            <a:pPr marL="0" lvl="0" indent="0" algn="l" rtl="0">
              <a:spcBef>
                <a:spcPts val="1000"/>
              </a:spcBef>
              <a:spcAft>
                <a:spcPts val="0"/>
              </a:spcAft>
              <a:buSzPts val="1120"/>
              <a:buNone/>
            </a:pPr>
            <a:r>
              <a:rPr lang="en-IN" i="1">
                <a:latin typeface="Times New Roman"/>
                <a:ea typeface="Times New Roman"/>
                <a:cs typeface="Times New Roman"/>
                <a:sym typeface="Times New Roman"/>
              </a:rPr>
              <a:t>SELECT category, shopping_mall, count(*) as total_purchases FROM customer GROUP BY category, shopping_mall ORDER BY total_purchases DESC;</a:t>
            </a:r>
            <a:endParaRPr/>
          </a:p>
          <a:p>
            <a:pPr marL="0" lvl="0" indent="0" algn="l" rtl="0">
              <a:spcBef>
                <a:spcPts val="1000"/>
              </a:spcBef>
              <a:spcAft>
                <a:spcPts val="0"/>
              </a:spcAft>
              <a:buSzPts val="1120"/>
              <a:buNone/>
            </a:pPr>
            <a:endParaRPr>
              <a:latin typeface="Times New Roman"/>
              <a:ea typeface="Times New Roman"/>
              <a:cs typeface="Times New Roman"/>
              <a:sym typeface="Times New Roman"/>
            </a:endParaRPr>
          </a:p>
          <a:p>
            <a:pPr marL="0" lvl="0" indent="0" algn="l" rtl="0">
              <a:spcBef>
                <a:spcPts val="1000"/>
              </a:spcBef>
              <a:spcAft>
                <a:spcPts val="0"/>
              </a:spcAft>
              <a:buSzPts val="1120"/>
              <a:buNone/>
            </a:pPr>
            <a:r>
              <a:rPr lang="en-IN" b="1" i="1" u="sng">
                <a:latin typeface="Times New Roman"/>
                <a:ea typeface="Times New Roman"/>
                <a:cs typeface="Times New Roman"/>
                <a:sym typeface="Times New Roman"/>
              </a:rPr>
              <a:t>Category vs Payment Method</a:t>
            </a:r>
            <a:endParaRPr b="1" i="1" u="sng">
              <a:latin typeface="Times New Roman"/>
              <a:ea typeface="Times New Roman"/>
              <a:cs typeface="Times New Roman"/>
              <a:sym typeface="Times New Roman"/>
            </a:endParaRPr>
          </a:p>
          <a:p>
            <a:pPr marL="0" lvl="0" indent="0" algn="l" rtl="0">
              <a:spcBef>
                <a:spcPts val="1000"/>
              </a:spcBef>
              <a:spcAft>
                <a:spcPts val="0"/>
              </a:spcAft>
              <a:buSzPts val="1120"/>
              <a:buNone/>
            </a:pPr>
            <a:r>
              <a:rPr lang="en-IN" i="1">
                <a:latin typeface="Times New Roman"/>
                <a:ea typeface="Times New Roman"/>
                <a:cs typeface="Times New Roman"/>
                <a:sym typeface="Times New Roman"/>
              </a:rPr>
              <a:t>SELECT category, payment_method, count(*) as total_purchases FROM customer</a:t>
            </a:r>
            <a:r>
              <a:rPr lang="en-IN">
                <a:latin typeface="Times New Roman"/>
                <a:ea typeface="Times New Roman"/>
                <a:cs typeface="Times New Roman"/>
                <a:sym typeface="Times New Roman"/>
              </a:rPr>
              <a:t> </a:t>
            </a:r>
            <a:r>
              <a:rPr lang="en-IN" i="1">
                <a:latin typeface="Times New Roman"/>
                <a:ea typeface="Times New Roman"/>
                <a:cs typeface="Times New Roman"/>
                <a:sym typeface="Times New Roman"/>
              </a:rPr>
              <a:t>GROUP BY category, payment_method ORDER BY total_purchases DESC;</a:t>
            </a:r>
            <a:endParaRPr>
              <a:latin typeface="Times New Roman"/>
              <a:ea typeface="Times New Roman"/>
              <a:cs typeface="Times New Roman"/>
              <a:sym typeface="Times New Roman"/>
            </a:endParaRPr>
          </a:p>
          <a:p>
            <a:pPr marL="0" lvl="0" indent="0" algn="l" rtl="0">
              <a:spcBef>
                <a:spcPts val="1000"/>
              </a:spcBef>
              <a:spcAft>
                <a:spcPts val="0"/>
              </a:spcAft>
              <a:buSzPts val="1120"/>
              <a:buNone/>
            </a:pPr>
            <a:endParaRPr>
              <a:latin typeface="Times New Roman"/>
              <a:ea typeface="Times New Roman"/>
              <a:cs typeface="Times New Roman"/>
              <a:sym typeface="Times New Roman"/>
            </a:endParaRPr>
          </a:p>
          <a:p>
            <a:pPr marL="0" lvl="0" indent="0" algn="l" rtl="0">
              <a:spcBef>
                <a:spcPts val="1000"/>
              </a:spcBef>
              <a:spcAft>
                <a:spcPts val="0"/>
              </a:spcAft>
              <a:buSzPts val="1120"/>
              <a:buNone/>
            </a:pPr>
            <a:r>
              <a:rPr lang="en-IN" b="1" i="1" u="sng">
                <a:latin typeface="Times New Roman"/>
                <a:ea typeface="Times New Roman"/>
                <a:cs typeface="Times New Roman"/>
                <a:sym typeface="Times New Roman"/>
              </a:rPr>
              <a:t>Insight:-</a:t>
            </a:r>
            <a:endParaRPr u="sng"/>
          </a:p>
          <a:p>
            <a:pPr marL="0" lvl="0" indent="0" algn="l" rtl="0">
              <a:spcBef>
                <a:spcPts val="1000"/>
              </a:spcBef>
              <a:spcAft>
                <a:spcPts val="0"/>
              </a:spcAft>
              <a:buSzPts val="1120"/>
              <a:buNone/>
            </a:pPr>
            <a:r>
              <a:rPr lang="en-IN">
                <a:latin typeface="Times New Roman"/>
                <a:ea typeface="Times New Roman"/>
                <a:cs typeface="Times New Roman"/>
                <a:sym typeface="Times New Roman"/>
              </a:rPr>
              <a:t>Each category performs across genders. To find categories that skew to a specific gender (helpful for targeted promotions)</a:t>
            </a:r>
            <a:endParaRPr/>
          </a:p>
        </p:txBody>
      </p:sp>
      <p:pic>
        <p:nvPicPr>
          <p:cNvPr id="119" name="Google Shape;119;p20"/>
          <p:cNvPicPr preferRelativeResize="0"/>
          <p:nvPr/>
        </p:nvPicPr>
        <p:blipFill rotWithShape="1">
          <a:blip r:embed="rId4">
            <a:alphaModFix/>
          </a:blip>
          <a:srcRect/>
          <a:stretch/>
        </p:blipFill>
        <p:spPr>
          <a:xfrm>
            <a:off x="5770828" y="4059609"/>
            <a:ext cx="4902452" cy="223358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1"/>
          <p:cNvSpPr txBox="1">
            <a:spLocks noGrp="1"/>
          </p:cNvSpPr>
          <p:nvPr>
            <p:ph type="title"/>
          </p:nvPr>
        </p:nvSpPr>
        <p:spPr>
          <a:xfrm>
            <a:off x="839788" y="457200"/>
            <a:ext cx="10512424" cy="740004"/>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None/>
            </a:pPr>
            <a:r>
              <a:rPr lang="en-IN" sz="3100" u="sng" dirty="0">
                <a:latin typeface="Times New Roman"/>
                <a:ea typeface="Times New Roman"/>
                <a:cs typeface="Times New Roman"/>
                <a:sym typeface="Times New Roman"/>
              </a:rPr>
              <a:t>5. How is the shopping distribution according to age?</a:t>
            </a:r>
            <a:endParaRPr sz="3100" u="sng" dirty="0">
              <a:latin typeface="Times New Roman"/>
              <a:ea typeface="Times New Roman"/>
              <a:cs typeface="Times New Roman"/>
              <a:sym typeface="Times New Roman"/>
            </a:endParaRPr>
          </a:p>
        </p:txBody>
      </p:sp>
      <p:pic>
        <p:nvPicPr>
          <p:cNvPr id="126" name="Google Shape;126;p21"/>
          <p:cNvPicPr preferRelativeResize="0">
            <a:picLocks noGrp="1"/>
          </p:cNvPicPr>
          <p:nvPr>
            <p:ph type="body" idx="1"/>
          </p:nvPr>
        </p:nvPicPr>
        <p:blipFill rotWithShape="1">
          <a:blip r:embed="rId3">
            <a:alphaModFix/>
          </a:blip>
          <a:srcRect/>
          <a:stretch/>
        </p:blipFill>
        <p:spPr>
          <a:xfrm>
            <a:off x="5516850" y="2248875"/>
            <a:ext cx="5345700" cy="2351700"/>
          </a:xfrm>
          <a:prstGeom prst="rect">
            <a:avLst/>
          </a:prstGeom>
          <a:noFill/>
          <a:ln>
            <a:noFill/>
          </a:ln>
        </p:spPr>
      </p:pic>
      <p:sp>
        <p:nvSpPr>
          <p:cNvPr id="127" name="Google Shape;127;p21"/>
          <p:cNvSpPr txBox="1">
            <a:spLocks noGrp="1"/>
          </p:cNvSpPr>
          <p:nvPr>
            <p:ph type="body" idx="2"/>
          </p:nvPr>
        </p:nvSpPr>
        <p:spPr>
          <a:xfrm>
            <a:off x="603315" y="1630837"/>
            <a:ext cx="4534293" cy="501506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036"/>
              <a:buNone/>
            </a:pPr>
            <a:r>
              <a:rPr lang="en-IN" sz="1295" b="1" i="1">
                <a:latin typeface="Times New Roman"/>
                <a:ea typeface="Times New Roman"/>
                <a:cs typeface="Times New Roman"/>
                <a:sym typeface="Times New Roman"/>
              </a:rPr>
              <a:t>Q</a:t>
            </a:r>
            <a:r>
              <a:rPr lang="en-IN" sz="1295" b="1" i="1" u="sng">
                <a:latin typeface="Times New Roman"/>
                <a:ea typeface="Times New Roman"/>
                <a:cs typeface="Times New Roman"/>
                <a:sym typeface="Times New Roman"/>
              </a:rPr>
              <a:t>uery:-</a:t>
            </a:r>
            <a:endParaRPr sz="1295" i="1" u="sng">
              <a:latin typeface="Times New Roman"/>
              <a:ea typeface="Times New Roman"/>
              <a:cs typeface="Times New Roman"/>
              <a:sym typeface="Times New Roman"/>
            </a:endParaRPr>
          </a:p>
          <a:p>
            <a:pPr marL="0" lvl="0" indent="0" algn="l" rtl="0">
              <a:lnSpc>
                <a:spcPct val="95000"/>
              </a:lnSpc>
              <a:spcBef>
                <a:spcPts val="1000"/>
              </a:spcBef>
              <a:spcAft>
                <a:spcPts val="0"/>
              </a:spcAft>
              <a:buSzPts val="1036"/>
              <a:buNone/>
            </a:pPr>
            <a:r>
              <a:rPr lang="en-IN" sz="1295" i="1">
                <a:latin typeface="Times New Roman"/>
                <a:ea typeface="Times New Roman"/>
                <a:cs typeface="Times New Roman"/>
                <a:sym typeface="Times New Roman"/>
              </a:rPr>
              <a:t>SELECT </a:t>
            </a:r>
            <a:endParaRPr sz="1295">
              <a:latin typeface="Times New Roman"/>
              <a:ea typeface="Times New Roman"/>
              <a:cs typeface="Times New Roman"/>
              <a:sym typeface="Times New Roman"/>
            </a:endParaRPr>
          </a:p>
          <a:p>
            <a:pPr marL="0" lvl="0" indent="0" algn="l" rtl="0">
              <a:lnSpc>
                <a:spcPct val="95000"/>
              </a:lnSpc>
              <a:spcBef>
                <a:spcPts val="1000"/>
              </a:spcBef>
              <a:spcAft>
                <a:spcPts val="0"/>
              </a:spcAft>
              <a:buSzPts val="1036"/>
              <a:buNone/>
            </a:pPr>
            <a:r>
              <a:rPr lang="en-IN" sz="1295" i="1">
                <a:latin typeface="Times New Roman"/>
                <a:ea typeface="Times New Roman"/>
                <a:cs typeface="Times New Roman"/>
                <a:sym typeface="Times New Roman"/>
              </a:rPr>
              <a:t>    CASE</a:t>
            </a:r>
            <a:endParaRPr sz="1295">
              <a:latin typeface="Times New Roman"/>
              <a:ea typeface="Times New Roman"/>
              <a:cs typeface="Times New Roman"/>
              <a:sym typeface="Times New Roman"/>
            </a:endParaRPr>
          </a:p>
          <a:p>
            <a:pPr marL="0" lvl="0" indent="0" algn="l" rtl="0">
              <a:lnSpc>
                <a:spcPct val="95000"/>
              </a:lnSpc>
              <a:spcBef>
                <a:spcPts val="600"/>
              </a:spcBef>
              <a:spcAft>
                <a:spcPts val="0"/>
              </a:spcAft>
              <a:buSzPts val="1036"/>
              <a:buNone/>
            </a:pPr>
            <a:r>
              <a:rPr lang="en-IN" sz="1295" i="1">
                <a:latin typeface="Times New Roman"/>
                <a:ea typeface="Times New Roman"/>
                <a:cs typeface="Times New Roman"/>
                <a:sym typeface="Times New Roman"/>
              </a:rPr>
              <a:t>        WHEN age &lt; 18 THEN '&lt;18'</a:t>
            </a:r>
            <a:endParaRPr sz="1295">
              <a:latin typeface="Times New Roman"/>
              <a:ea typeface="Times New Roman"/>
              <a:cs typeface="Times New Roman"/>
              <a:sym typeface="Times New Roman"/>
            </a:endParaRPr>
          </a:p>
          <a:p>
            <a:pPr marL="0" lvl="0" indent="0" algn="l" rtl="0">
              <a:lnSpc>
                <a:spcPct val="95000"/>
              </a:lnSpc>
              <a:spcBef>
                <a:spcPts val="600"/>
              </a:spcBef>
              <a:spcAft>
                <a:spcPts val="0"/>
              </a:spcAft>
              <a:buSzPts val="1036"/>
              <a:buNone/>
            </a:pPr>
            <a:r>
              <a:rPr lang="en-IN" sz="1295" i="1">
                <a:latin typeface="Times New Roman"/>
                <a:ea typeface="Times New Roman"/>
                <a:cs typeface="Times New Roman"/>
                <a:sym typeface="Times New Roman"/>
              </a:rPr>
              <a:t>        WHEN age BETWEEN 18 AND 24 THEN '18-24'</a:t>
            </a:r>
            <a:endParaRPr sz="1295">
              <a:latin typeface="Times New Roman"/>
              <a:ea typeface="Times New Roman"/>
              <a:cs typeface="Times New Roman"/>
              <a:sym typeface="Times New Roman"/>
            </a:endParaRPr>
          </a:p>
          <a:p>
            <a:pPr marL="0" lvl="0" indent="0" algn="l" rtl="0">
              <a:lnSpc>
                <a:spcPct val="95000"/>
              </a:lnSpc>
              <a:spcBef>
                <a:spcPts val="600"/>
              </a:spcBef>
              <a:spcAft>
                <a:spcPts val="0"/>
              </a:spcAft>
              <a:buSzPts val="1036"/>
              <a:buNone/>
            </a:pPr>
            <a:r>
              <a:rPr lang="en-IN" sz="1295" i="1">
                <a:latin typeface="Times New Roman"/>
                <a:ea typeface="Times New Roman"/>
                <a:cs typeface="Times New Roman"/>
                <a:sym typeface="Times New Roman"/>
              </a:rPr>
              <a:t>        WHEN age BETWEEN 25 AND 34 THEN '25-34'</a:t>
            </a:r>
            <a:endParaRPr sz="1295">
              <a:latin typeface="Times New Roman"/>
              <a:ea typeface="Times New Roman"/>
              <a:cs typeface="Times New Roman"/>
              <a:sym typeface="Times New Roman"/>
            </a:endParaRPr>
          </a:p>
          <a:p>
            <a:pPr marL="0" lvl="0" indent="0" algn="l" rtl="0">
              <a:lnSpc>
                <a:spcPct val="95000"/>
              </a:lnSpc>
              <a:spcBef>
                <a:spcPts val="600"/>
              </a:spcBef>
              <a:spcAft>
                <a:spcPts val="0"/>
              </a:spcAft>
              <a:buSzPts val="1036"/>
              <a:buNone/>
            </a:pPr>
            <a:r>
              <a:rPr lang="en-IN" sz="1295" i="1">
                <a:latin typeface="Times New Roman"/>
                <a:ea typeface="Times New Roman"/>
                <a:cs typeface="Times New Roman"/>
                <a:sym typeface="Times New Roman"/>
              </a:rPr>
              <a:t>        WHEN age BETWEEN 35 AND 44 THEN '35-44'</a:t>
            </a:r>
            <a:endParaRPr sz="1295">
              <a:latin typeface="Times New Roman"/>
              <a:ea typeface="Times New Roman"/>
              <a:cs typeface="Times New Roman"/>
              <a:sym typeface="Times New Roman"/>
            </a:endParaRPr>
          </a:p>
          <a:p>
            <a:pPr marL="0" lvl="0" indent="0" algn="l" rtl="0">
              <a:lnSpc>
                <a:spcPct val="95000"/>
              </a:lnSpc>
              <a:spcBef>
                <a:spcPts val="600"/>
              </a:spcBef>
              <a:spcAft>
                <a:spcPts val="0"/>
              </a:spcAft>
              <a:buSzPts val="1036"/>
              <a:buNone/>
            </a:pPr>
            <a:r>
              <a:rPr lang="en-IN" sz="1295" i="1">
                <a:latin typeface="Times New Roman"/>
                <a:ea typeface="Times New Roman"/>
                <a:cs typeface="Times New Roman"/>
                <a:sym typeface="Times New Roman"/>
              </a:rPr>
              <a:t>        WHEN age BETWEEN 45 AND 54 THEN '45-54'</a:t>
            </a:r>
            <a:endParaRPr sz="1295">
              <a:latin typeface="Times New Roman"/>
              <a:ea typeface="Times New Roman"/>
              <a:cs typeface="Times New Roman"/>
              <a:sym typeface="Times New Roman"/>
            </a:endParaRPr>
          </a:p>
          <a:p>
            <a:pPr marL="0" lvl="0" indent="0" algn="l" rtl="0">
              <a:lnSpc>
                <a:spcPct val="95000"/>
              </a:lnSpc>
              <a:spcBef>
                <a:spcPts val="600"/>
              </a:spcBef>
              <a:spcAft>
                <a:spcPts val="0"/>
              </a:spcAft>
              <a:buSzPts val="1036"/>
              <a:buNone/>
            </a:pPr>
            <a:r>
              <a:rPr lang="en-IN" sz="1295" i="1">
                <a:latin typeface="Times New Roman"/>
                <a:ea typeface="Times New Roman"/>
                <a:cs typeface="Times New Roman"/>
                <a:sym typeface="Times New Roman"/>
              </a:rPr>
              <a:t>        WHEN age BETWEEN 55 AND 64 THEN '55-64'</a:t>
            </a:r>
            <a:endParaRPr sz="1295">
              <a:latin typeface="Times New Roman"/>
              <a:ea typeface="Times New Roman"/>
              <a:cs typeface="Times New Roman"/>
              <a:sym typeface="Times New Roman"/>
            </a:endParaRPr>
          </a:p>
          <a:p>
            <a:pPr marL="0" lvl="0" indent="0" algn="l" rtl="0">
              <a:lnSpc>
                <a:spcPct val="95000"/>
              </a:lnSpc>
              <a:spcBef>
                <a:spcPts val="600"/>
              </a:spcBef>
              <a:spcAft>
                <a:spcPts val="0"/>
              </a:spcAft>
              <a:buSzPts val="1036"/>
              <a:buNone/>
            </a:pPr>
            <a:r>
              <a:rPr lang="en-IN" sz="1295" i="1">
                <a:latin typeface="Times New Roman"/>
                <a:ea typeface="Times New Roman"/>
                <a:cs typeface="Times New Roman"/>
                <a:sym typeface="Times New Roman"/>
              </a:rPr>
              <a:t>        ELSE '65+'</a:t>
            </a:r>
            <a:endParaRPr sz="1295">
              <a:latin typeface="Times New Roman"/>
              <a:ea typeface="Times New Roman"/>
              <a:cs typeface="Times New Roman"/>
              <a:sym typeface="Times New Roman"/>
            </a:endParaRPr>
          </a:p>
          <a:p>
            <a:pPr marL="0" lvl="0" indent="0" algn="l" rtl="0">
              <a:lnSpc>
                <a:spcPct val="95000"/>
              </a:lnSpc>
              <a:spcBef>
                <a:spcPts val="600"/>
              </a:spcBef>
              <a:spcAft>
                <a:spcPts val="0"/>
              </a:spcAft>
              <a:buSzPts val="1036"/>
              <a:buNone/>
            </a:pPr>
            <a:r>
              <a:rPr lang="en-IN" sz="1295" i="1">
                <a:latin typeface="Times New Roman"/>
                <a:ea typeface="Times New Roman"/>
                <a:cs typeface="Times New Roman"/>
                <a:sym typeface="Times New Roman"/>
              </a:rPr>
              <a:t>    END AS age_group,</a:t>
            </a:r>
            <a:endParaRPr sz="1295">
              <a:latin typeface="Times New Roman"/>
              <a:ea typeface="Times New Roman"/>
              <a:cs typeface="Times New Roman"/>
              <a:sym typeface="Times New Roman"/>
            </a:endParaRPr>
          </a:p>
          <a:p>
            <a:pPr marL="0" lvl="0" indent="0" algn="l" rtl="0">
              <a:lnSpc>
                <a:spcPct val="95000"/>
              </a:lnSpc>
              <a:spcBef>
                <a:spcPts val="1000"/>
              </a:spcBef>
              <a:spcAft>
                <a:spcPts val="0"/>
              </a:spcAft>
              <a:buSzPts val="1036"/>
              <a:buNone/>
            </a:pPr>
            <a:r>
              <a:rPr lang="en-IN" sz="1295" i="1">
                <a:latin typeface="Times New Roman"/>
                <a:ea typeface="Times New Roman"/>
                <a:cs typeface="Times New Roman"/>
                <a:sym typeface="Times New Roman"/>
              </a:rPr>
              <a:t>    COUNT(*) AS total_transactions FROM customer GROUP BY age_group ORDER BY total_transactions DESC;</a:t>
            </a:r>
            <a:endParaRPr sz="1295"/>
          </a:p>
          <a:p>
            <a:pPr marL="0" lvl="0" indent="0" algn="l" rtl="0">
              <a:lnSpc>
                <a:spcPct val="95000"/>
              </a:lnSpc>
              <a:spcBef>
                <a:spcPts val="1000"/>
              </a:spcBef>
              <a:spcAft>
                <a:spcPts val="0"/>
              </a:spcAft>
              <a:buSzPts val="1036"/>
              <a:buNone/>
            </a:pPr>
            <a:endParaRPr sz="1295" i="1">
              <a:latin typeface="Times New Roman"/>
              <a:ea typeface="Times New Roman"/>
              <a:cs typeface="Times New Roman"/>
              <a:sym typeface="Times New Roman"/>
            </a:endParaRPr>
          </a:p>
          <a:p>
            <a:pPr marL="0" lvl="0" indent="0" algn="l" rtl="0">
              <a:lnSpc>
                <a:spcPct val="95000"/>
              </a:lnSpc>
              <a:spcBef>
                <a:spcPts val="1000"/>
              </a:spcBef>
              <a:spcAft>
                <a:spcPts val="0"/>
              </a:spcAft>
              <a:buSzPts val="1036"/>
              <a:buNone/>
            </a:pPr>
            <a:r>
              <a:rPr lang="en-IN" sz="1295" b="1" i="1" u="sng">
                <a:latin typeface="Times New Roman"/>
                <a:ea typeface="Times New Roman"/>
                <a:cs typeface="Times New Roman"/>
                <a:sym typeface="Times New Roman"/>
              </a:rPr>
              <a:t>Insight:-</a:t>
            </a:r>
            <a:endParaRPr sz="1295" u="sng"/>
          </a:p>
          <a:p>
            <a:pPr marL="0" lvl="0" indent="0" algn="l" rtl="0">
              <a:lnSpc>
                <a:spcPct val="95000"/>
              </a:lnSpc>
              <a:spcBef>
                <a:spcPts val="1000"/>
              </a:spcBef>
              <a:spcAft>
                <a:spcPts val="0"/>
              </a:spcAft>
              <a:buSzPts val="1036"/>
              <a:buNone/>
            </a:pPr>
            <a:br>
              <a:rPr lang="en-IN" sz="1295">
                <a:latin typeface="Times New Roman"/>
                <a:ea typeface="Times New Roman"/>
                <a:cs typeface="Times New Roman"/>
                <a:sym typeface="Times New Roman"/>
              </a:rPr>
            </a:br>
            <a:r>
              <a:rPr lang="en-IN" sz="1295">
                <a:latin typeface="Times New Roman"/>
                <a:ea typeface="Times New Roman"/>
                <a:cs typeface="Times New Roman"/>
                <a:sym typeface="Times New Roman"/>
              </a:rPr>
              <a:t>Shows which age group shops the most. Buckets ages into groups and summarizes transactions and items per group. </a:t>
            </a:r>
            <a:endParaRPr sz="1295" b="1">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2"/>
          <p:cNvSpPr txBox="1">
            <a:spLocks noGrp="1"/>
          </p:cNvSpPr>
          <p:nvPr>
            <p:ph type="title"/>
          </p:nvPr>
        </p:nvSpPr>
        <p:spPr>
          <a:xfrm>
            <a:off x="839788" y="457200"/>
            <a:ext cx="10512424" cy="740004"/>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2"/>
              </a:buClr>
              <a:buSzPts val="2400"/>
              <a:buFont typeface="Times New Roman"/>
              <a:buNone/>
            </a:pPr>
            <a:r>
              <a:rPr lang="en-IN" sz="3200" u="sng" dirty="0">
                <a:latin typeface="Times New Roman"/>
                <a:ea typeface="Times New Roman"/>
                <a:cs typeface="Times New Roman"/>
                <a:sym typeface="Times New Roman"/>
              </a:rPr>
              <a:t>6. Which age cat did we sell more products to?</a:t>
            </a:r>
            <a:endParaRPr sz="3200" u="sng" dirty="0">
              <a:latin typeface="Times New Roman"/>
              <a:ea typeface="Times New Roman"/>
              <a:cs typeface="Times New Roman"/>
              <a:sym typeface="Times New Roman"/>
            </a:endParaRPr>
          </a:p>
        </p:txBody>
      </p:sp>
      <p:pic>
        <p:nvPicPr>
          <p:cNvPr id="134" name="Google Shape;134;p22"/>
          <p:cNvPicPr preferRelativeResize="0">
            <a:picLocks noGrp="1"/>
          </p:cNvPicPr>
          <p:nvPr>
            <p:ph type="body" idx="1"/>
          </p:nvPr>
        </p:nvPicPr>
        <p:blipFill rotWithShape="1">
          <a:blip r:embed="rId3">
            <a:alphaModFix/>
          </a:blip>
          <a:srcRect/>
          <a:stretch/>
        </p:blipFill>
        <p:spPr>
          <a:xfrm>
            <a:off x="5552625" y="2149875"/>
            <a:ext cx="5324100" cy="2284500"/>
          </a:xfrm>
          <a:prstGeom prst="rect">
            <a:avLst/>
          </a:prstGeom>
          <a:noFill/>
          <a:ln>
            <a:noFill/>
          </a:ln>
        </p:spPr>
      </p:pic>
      <p:sp>
        <p:nvSpPr>
          <p:cNvPr id="135" name="Google Shape;135;p22"/>
          <p:cNvSpPr txBox="1">
            <a:spLocks noGrp="1"/>
          </p:cNvSpPr>
          <p:nvPr>
            <p:ph type="body" idx="2"/>
          </p:nvPr>
        </p:nvSpPr>
        <p:spPr>
          <a:xfrm>
            <a:off x="603315" y="1630837"/>
            <a:ext cx="4534293" cy="5015060"/>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spcBef>
                <a:spcPts val="0"/>
              </a:spcBef>
              <a:spcAft>
                <a:spcPts val="0"/>
              </a:spcAft>
              <a:buSzPct val="80000"/>
              <a:buNone/>
            </a:pPr>
            <a:r>
              <a:rPr lang="en-IN" b="1" i="1" u="sng">
                <a:latin typeface="Times New Roman"/>
                <a:ea typeface="Times New Roman"/>
                <a:cs typeface="Times New Roman"/>
                <a:sym typeface="Times New Roman"/>
              </a:rPr>
              <a:t>Query:-</a:t>
            </a:r>
            <a:endParaRPr b="1" u="sng">
              <a:latin typeface="Times New Roman"/>
              <a:ea typeface="Times New Roman"/>
              <a:cs typeface="Times New Roman"/>
              <a:sym typeface="Times New Roman"/>
            </a:endParaRPr>
          </a:p>
          <a:p>
            <a:pPr marL="0" lvl="0" indent="0" algn="l" rtl="0">
              <a:spcBef>
                <a:spcPts val="1000"/>
              </a:spcBef>
              <a:spcAft>
                <a:spcPts val="0"/>
              </a:spcAft>
              <a:buSzPct val="80000"/>
              <a:buNone/>
            </a:pPr>
            <a:r>
              <a:rPr lang="en-IN" i="1">
                <a:latin typeface="Times New Roman"/>
                <a:ea typeface="Times New Roman"/>
                <a:cs typeface="Times New Roman"/>
                <a:sym typeface="Times New Roman"/>
              </a:rPr>
              <a:t>SELECT </a:t>
            </a:r>
            <a:endParaRPr>
              <a:latin typeface="Times New Roman"/>
              <a:ea typeface="Times New Roman"/>
              <a:cs typeface="Times New Roman"/>
              <a:sym typeface="Times New Roman"/>
            </a:endParaRPr>
          </a:p>
          <a:p>
            <a:pPr marL="0" lvl="0" indent="0" algn="l" rtl="0">
              <a:spcBef>
                <a:spcPts val="600"/>
              </a:spcBef>
              <a:spcAft>
                <a:spcPts val="0"/>
              </a:spcAft>
              <a:buSzPct val="80000"/>
              <a:buNone/>
            </a:pPr>
            <a:r>
              <a:rPr lang="en-IN" i="1">
                <a:latin typeface="Times New Roman"/>
                <a:ea typeface="Times New Roman"/>
                <a:cs typeface="Times New Roman"/>
                <a:sym typeface="Times New Roman"/>
              </a:rPr>
              <a:t>    CASE</a:t>
            </a:r>
            <a:endParaRPr>
              <a:latin typeface="Times New Roman"/>
              <a:ea typeface="Times New Roman"/>
              <a:cs typeface="Times New Roman"/>
              <a:sym typeface="Times New Roman"/>
            </a:endParaRPr>
          </a:p>
          <a:p>
            <a:pPr marL="0" lvl="0" indent="0" algn="l" rtl="0">
              <a:spcBef>
                <a:spcPts val="600"/>
              </a:spcBef>
              <a:spcAft>
                <a:spcPts val="0"/>
              </a:spcAft>
              <a:buSzPct val="80000"/>
              <a:buNone/>
            </a:pPr>
            <a:r>
              <a:rPr lang="en-IN" i="1">
                <a:latin typeface="Times New Roman"/>
                <a:ea typeface="Times New Roman"/>
                <a:cs typeface="Times New Roman"/>
                <a:sym typeface="Times New Roman"/>
              </a:rPr>
              <a:t>        WHEN age &lt; 18 THEN '&lt;18'</a:t>
            </a:r>
            <a:endParaRPr>
              <a:latin typeface="Times New Roman"/>
              <a:ea typeface="Times New Roman"/>
              <a:cs typeface="Times New Roman"/>
              <a:sym typeface="Times New Roman"/>
            </a:endParaRPr>
          </a:p>
          <a:p>
            <a:pPr marL="0" lvl="0" indent="0" algn="l" rtl="0">
              <a:spcBef>
                <a:spcPts val="600"/>
              </a:spcBef>
              <a:spcAft>
                <a:spcPts val="0"/>
              </a:spcAft>
              <a:buSzPct val="80000"/>
              <a:buNone/>
            </a:pPr>
            <a:r>
              <a:rPr lang="en-IN" i="1">
                <a:latin typeface="Times New Roman"/>
                <a:ea typeface="Times New Roman"/>
                <a:cs typeface="Times New Roman"/>
                <a:sym typeface="Times New Roman"/>
              </a:rPr>
              <a:t>        WHEN age BETWEEN 18 AND 24 THEN '18-24'</a:t>
            </a:r>
            <a:endParaRPr>
              <a:latin typeface="Times New Roman"/>
              <a:ea typeface="Times New Roman"/>
              <a:cs typeface="Times New Roman"/>
              <a:sym typeface="Times New Roman"/>
            </a:endParaRPr>
          </a:p>
          <a:p>
            <a:pPr marL="0" lvl="0" indent="0" algn="l" rtl="0">
              <a:spcBef>
                <a:spcPts val="600"/>
              </a:spcBef>
              <a:spcAft>
                <a:spcPts val="0"/>
              </a:spcAft>
              <a:buSzPct val="80000"/>
              <a:buNone/>
            </a:pPr>
            <a:r>
              <a:rPr lang="en-IN" i="1">
                <a:latin typeface="Times New Roman"/>
                <a:ea typeface="Times New Roman"/>
                <a:cs typeface="Times New Roman"/>
                <a:sym typeface="Times New Roman"/>
              </a:rPr>
              <a:t>        WHEN age BETWEEN 25 AND 34 THEN '25-34'</a:t>
            </a:r>
            <a:endParaRPr>
              <a:latin typeface="Times New Roman"/>
              <a:ea typeface="Times New Roman"/>
              <a:cs typeface="Times New Roman"/>
              <a:sym typeface="Times New Roman"/>
            </a:endParaRPr>
          </a:p>
          <a:p>
            <a:pPr marL="0" lvl="0" indent="0" algn="l" rtl="0">
              <a:spcBef>
                <a:spcPts val="600"/>
              </a:spcBef>
              <a:spcAft>
                <a:spcPts val="0"/>
              </a:spcAft>
              <a:buSzPct val="80000"/>
              <a:buNone/>
            </a:pPr>
            <a:r>
              <a:rPr lang="en-IN" i="1">
                <a:latin typeface="Times New Roman"/>
                <a:ea typeface="Times New Roman"/>
                <a:cs typeface="Times New Roman"/>
                <a:sym typeface="Times New Roman"/>
              </a:rPr>
              <a:t>        WHEN age BETWEEN 35 AND 44 THEN '35-44'</a:t>
            </a:r>
            <a:endParaRPr>
              <a:latin typeface="Times New Roman"/>
              <a:ea typeface="Times New Roman"/>
              <a:cs typeface="Times New Roman"/>
              <a:sym typeface="Times New Roman"/>
            </a:endParaRPr>
          </a:p>
          <a:p>
            <a:pPr marL="0" lvl="0" indent="0" algn="l" rtl="0">
              <a:spcBef>
                <a:spcPts val="600"/>
              </a:spcBef>
              <a:spcAft>
                <a:spcPts val="0"/>
              </a:spcAft>
              <a:buSzPct val="80000"/>
              <a:buNone/>
            </a:pPr>
            <a:r>
              <a:rPr lang="en-IN" i="1">
                <a:latin typeface="Times New Roman"/>
                <a:ea typeface="Times New Roman"/>
                <a:cs typeface="Times New Roman"/>
                <a:sym typeface="Times New Roman"/>
              </a:rPr>
              <a:t>        WHEN age BETWEEN 45 AND 54 THEN '45-54'</a:t>
            </a:r>
            <a:endParaRPr>
              <a:latin typeface="Times New Roman"/>
              <a:ea typeface="Times New Roman"/>
              <a:cs typeface="Times New Roman"/>
              <a:sym typeface="Times New Roman"/>
            </a:endParaRPr>
          </a:p>
          <a:p>
            <a:pPr marL="0" lvl="0" indent="0" algn="l" rtl="0">
              <a:spcBef>
                <a:spcPts val="600"/>
              </a:spcBef>
              <a:spcAft>
                <a:spcPts val="0"/>
              </a:spcAft>
              <a:buSzPct val="80000"/>
              <a:buNone/>
            </a:pPr>
            <a:r>
              <a:rPr lang="en-IN" i="1">
                <a:latin typeface="Times New Roman"/>
                <a:ea typeface="Times New Roman"/>
                <a:cs typeface="Times New Roman"/>
                <a:sym typeface="Times New Roman"/>
              </a:rPr>
              <a:t>        WHEN age BETWEEN 55 AND 64 THEN '55-64'</a:t>
            </a:r>
            <a:endParaRPr>
              <a:latin typeface="Times New Roman"/>
              <a:ea typeface="Times New Roman"/>
              <a:cs typeface="Times New Roman"/>
              <a:sym typeface="Times New Roman"/>
            </a:endParaRPr>
          </a:p>
          <a:p>
            <a:pPr marL="0" lvl="0" indent="0" algn="l" rtl="0">
              <a:spcBef>
                <a:spcPts val="600"/>
              </a:spcBef>
              <a:spcAft>
                <a:spcPts val="0"/>
              </a:spcAft>
              <a:buSzPct val="80000"/>
              <a:buNone/>
            </a:pPr>
            <a:r>
              <a:rPr lang="en-IN" i="1">
                <a:latin typeface="Times New Roman"/>
                <a:ea typeface="Times New Roman"/>
                <a:cs typeface="Times New Roman"/>
                <a:sym typeface="Times New Roman"/>
              </a:rPr>
              <a:t>        ELSE '65+'</a:t>
            </a:r>
            <a:endParaRPr>
              <a:latin typeface="Times New Roman"/>
              <a:ea typeface="Times New Roman"/>
              <a:cs typeface="Times New Roman"/>
              <a:sym typeface="Times New Roman"/>
            </a:endParaRPr>
          </a:p>
          <a:p>
            <a:pPr marL="0" lvl="0" indent="0" algn="l" rtl="0">
              <a:spcBef>
                <a:spcPts val="600"/>
              </a:spcBef>
              <a:spcAft>
                <a:spcPts val="0"/>
              </a:spcAft>
              <a:buSzPct val="80000"/>
              <a:buNone/>
            </a:pPr>
            <a:r>
              <a:rPr lang="en-IN" i="1">
                <a:latin typeface="Times New Roman"/>
                <a:ea typeface="Times New Roman"/>
                <a:cs typeface="Times New Roman"/>
                <a:sym typeface="Times New Roman"/>
              </a:rPr>
              <a:t>    END AS age_group,</a:t>
            </a:r>
            <a:endParaRPr>
              <a:latin typeface="Times New Roman"/>
              <a:ea typeface="Times New Roman"/>
              <a:cs typeface="Times New Roman"/>
              <a:sym typeface="Times New Roman"/>
            </a:endParaRPr>
          </a:p>
          <a:p>
            <a:pPr marL="0" lvl="0" indent="0" algn="l" rtl="0">
              <a:spcBef>
                <a:spcPts val="1000"/>
              </a:spcBef>
              <a:spcAft>
                <a:spcPts val="0"/>
              </a:spcAft>
              <a:buSzPct val="80000"/>
              <a:buNone/>
            </a:pPr>
            <a:r>
              <a:rPr lang="en-IN" i="1">
                <a:latin typeface="Times New Roman"/>
                <a:ea typeface="Times New Roman"/>
                <a:cs typeface="Times New Roman"/>
                <a:sym typeface="Times New Roman"/>
              </a:rPr>
              <a:t>    SUM(quantity) AS total_products_sold</a:t>
            </a:r>
            <a:r>
              <a:rPr lang="en-IN">
                <a:latin typeface="Times New Roman"/>
                <a:ea typeface="Times New Roman"/>
                <a:cs typeface="Times New Roman"/>
                <a:sym typeface="Times New Roman"/>
              </a:rPr>
              <a:t> </a:t>
            </a:r>
            <a:r>
              <a:rPr lang="en-IN" i="1">
                <a:latin typeface="Times New Roman"/>
                <a:ea typeface="Times New Roman"/>
                <a:cs typeface="Times New Roman"/>
                <a:sym typeface="Times New Roman"/>
              </a:rPr>
              <a:t>FROM customer GROUP BY age_group</a:t>
            </a:r>
            <a:r>
              <a:rPr lang="en-IN">
                <a:latin typeface="Times New Roman"/>
                <a:ea typeface="Times New Roman"/>
                <a:cs typeface="Times New Roman"/>
                <a:sym typeface="Times New Roman"/>
              </a:rPr>
              <a:t> </a:t>
            </a:r>
            <a:r>
              <a:rPr lang="en-IN" i="1">
                <a:latin typeface="Times New Roman"/>
                <a:ea typeface="Times New Roman"/>
                <a:cs typeface="Times New Roman"/>
                <a:sym typeface="Times New Roman"/>
              </a:rPr>
              <a:t>ORDER BY total_products_sold DESC;</a:t>
            </a:r>
            <a:endParaRPr/>
          </a:p>
          <a:p>
            <a:pPr marL="0" lvl="0" indent="0" algn="l" rtl="0">
              <a:spcBef>
                <a:spcPts val="1000"/>
              </a:spcBef>
              <a:spcAft>
                <a:spcPts val="0"/>
              </a:spcAft>
              <a:buSzPct val="80000"/>
              <a:buNone/>
            </a:pPr>
            <a:endParaRPr b="1" i="1">
              <a:latin typeface="Times New Roman"/>
              <a:ea typeface="Times New Roman"/>
              <a:cs typeface="Times New Roman"/>
              <a:sym typeface="Times New Roman"/>
            </a:endParaRPr>
          </a:p>
          <a:p>
            <a:pPr marL="0" lvl="0" indent="0" algn="l" rtl="0">
              <a:spcBef>
                <a:spcPts val="1000"/>
              </a:spcBef>
              <a:spcAft>
                <a:spcPts val="0"/>
              </a:spcAft>
              <a:buSzPct val="80000"/>
              <a:buNone/>
            </a:pPr>
            <a:r>
              <a:rPr lang="en-IN" b="1" i="1" u="sng">
                <a:latin typeface="Times New Roman"/>
                <a:ea typeface="Times New Roman"/>
                <a:cs typeface="Times New Roman"/>
                <a:sym typeface="Times New Roman"/>
              </a:rPr>
              <a:t>Insight:-</a:t>
            </a:r>
            <a:endParaRPr u="sng"/>
          </a:p>
          <a:p>
            <a:pPr marL="0" lvl="0" indent="0" algn="l" rtl="0">
              <a:spcBef>
                <a:spcPts val="1000"/>
              </a:spcBef>
              <a:spcAft>
                <a:spcPts val="0"/>
              </a:spcAft>
              <a:buSzPct val="80000"/>
              <a:buNone/>
            </a:pPr>
            <a:r>
              <a:rPr lang="en-IN" b="1">
                <a:latin typeface="Times New Roman"/>
                <a:ea typeface="Times New Roman"/>
                <a:cs typeface="Times New Roman"/>
                <a:sym typeface="Times New Roman"/>
              </a:rPr>
              <a:t>A</a:t>
            </a:r>
            <a:r>
              <a:rPr lang="en-IN">
                <a:latin typeface="Times New Roman"/>
                <a:ea typeface="Times New Roman"/>
                <a:cs typeface="Times New Roman"/>
                <a:sym typeface="Times New Roman"/>
              </a:rPr>
              <a:t>ge group buys more items. Sums item quantities per age group — returns which age group bought most units.</a:t>
            </a:r>
            <a:endParaRPr b="1">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3"/>
          <p:cNvSpPr txBox="1">
            <a:spLocks noGrp="1"/>
          </p:cNvSpPr>
          <p:nvPr>
            <p:ph type="title"/>
          </p:nvPr>
        </p:nvSpPr>
        <p:spPr>
          <a:xfrm>
            <a:off x="839788" y="457200"/>
            <a:ext cx="10512424" cy="740004"/>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2"/>
              </a:buClr>
              <a:buSzPts val="2400"/>
              <a:buFont typeface="Times New Roman"/>
              <a:buNone/>
            </a:pPr>
            <a:r>
              <a:rPr lang="en-IN" sz="3300" u="sng" dirty="0">
                <a:latin typeface="Times New Roman"/>
                <a:ea typeface="Times New Roman"/>
                <a:cs typeface="Times New Roman"/>
                <a:sym typeface="Times New Roman"/>
              </a:rPr>
              <a:t>7. Which age cat generated more revenue?</a:t>
            </a:r>
            <a:endParaRPr sz="3300" u="sng" dirty="0">
              <a:latin typeface="Times New Roman"/>
              <a:ea typeface="Times New Roman"/>
              <a:cs typeface="Times New Roman"/>
              <a:sym typeface="Times New Roman"/>
            </a:endParaRPr>
          </a:p>
        </p:txBody>
      </p:sp>
      <p:pic>
        <p:nvPicPr>
          <p:cNvPr id="142" name="Google Shape;142;p23"/>
          <p:cNvPicPr preferRelativeResize="0">
            <a:picLocks noGrp="1"/>
          </p:cNvPicPr>
          <p:nvPr>
            <p:ph type="body" idx="1"/>
          </p:nvPr>
        </p:nvPicPr>
        <p:blipFill rotWithShape="1">
          <a:blip r:embed="rId3">
            <a:alphaModFix/>
          </a:blip>
          <a:srcRect/>
          <a:stretch/>
        </p:blipFill>
        <p:spPr>
          <a:xfrm>
            <a:off x="5284625" y="1932501"/>
            <a:ext cx="5969400" cy="2353200"/>
          </a:xfrm>
          <a:prstGeom prst="rect">
            <a:avLst/>
          </a:prstGeom>
          <a:noFill/>
          <a:ln>
            <a:noFill/>
          </a:ln>
        </p:spPr>
      </p:pic>
      <p:sp>
        <p:nvSpPr>
          <p:cNvPr id="143" name="Google Shape;143;p23"/>
          <p:cNvSpPr txBox="1">
            <a:spLocks noGrp="1"/>
          </p:cNvSpPr>
          <p:nvPr>
            <p:ph type="body" idx="2"/>
          </p:nvPr>
        </p:nvSpPr>
        <p:spPr>
          <a:xfrm>
            <a:off x="603315" y="1630837"/>
            <a:ext cx="4534293" cy="501506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spcBef>
                <a:spcPts val="0"/>
              </a:spcBef>
              <a:spcAft>
                <a:spcPts val="0"/>
              </a:spcAft>
              <a:buSzPct val="80000"/>
              <a:buNone/>
            </a:pPr>
            <a:r>
              <a:rPr lang="en-IN" b="1" i="1" u="sng">
                <a:latin typeface="Times New Roman"/>
                <a:ea typeface="Times New Roman"/>
                <a:cs typeface="Times New Roman"/>
                <a:sym typeface="Times New Roman"/>
              </a:rPr>
              <a:t>Query:-</a:t>
            </a:r>
            <a:endParaRPr i="1" u="sng">
              <a:latin typeface="Times New Roman"/>
              <a:ea typeface="Times New Roman"/>
              <a:cs typeface="Times New Roman"/>
              <a:sym typeface="Times New Roman"/>
            </a:endParaRPr>
          </a:p>
          <a:p>
            <a:pPr marL="0" lvl="0" indent="0" algn="l" rtl="0">
              <a:spcBef>
                <a:spcPts val="1000"/>
              </a:spcBef>
              <a:spcAft>
                <a:spcPts val="0"/>
              </a:spcAft>
              <a:buSzPct val="80000"/>
              <a:buNone/>
            </a:pPr>
            <a:r>
              <a:rPr lang="en-IN" i="1">
                <a:latin typeface="Times New Roman"/>
                <a:ea typeface="Times New Roman"/>
                <a:cs typeface="Times New Roman"/>
                <a:sym typeface="Times New Roman"/>
              </a:rPr>
              <a:t>SELECT Age_Group, SUM(price) AS Total_Revenue</a:t>
            </a:r>
            <a:r>
              <a:rPr lang="en-IN">
                <a:latin typeface="Times New Roman"/>
                <a:ea typeface="Times New Roman"/>
                <a:cs typeface="Times New Roman"/>
                <a:sym typeface="Times New Roman"/>
              </a:rPr>
              <a:t> </a:t>
            </a:r>
            <a:r>
              <a:rPr lang="en-IN" i="1">
                <a:latin typeface="Times New Roman"/>
                <a:ea typeface="Times New Roman"/>
                <a:cs typeface="Times New Roman"/>
                <a:sym typeface="Times New Roman"/>
              </a:rPr>
              <a:t>FROM (SELECT</a:t>
            </a:r>
            <a:endParaRPr>
              <a:latin typeface="Times New Roman"/>
              <a:ea typeface="Times New Roman"/>
              <a:cs typeface="Times New Roman"/>
              <a:sym typeface="Times New Roman"/>
            </a:endParaRPr>
          </a:p>
          <a:p>
            <a:pPr marL="0" lvl="0" indent="0" algn="l" rtl="0">
              <a:spcBef>
                <a:spcPts val="600"/>
              </a:spcBef>
              <a:spcAft>
                <a:spcPts val="0"/>
              </a:spcAft>
              <a:buSzPct val="80000"/>
              <a:buNone/>
            </a:pPr>
            <a:r>
              <a:rPr lang="en-IN" i="1">
                <a:latin typeface="Times New Roman"/>
                <a:ea typeface="Times New Roman"/>
                <a:cs typeface="Times New Roman"/>
                <a:sym typeface="Times New Roman"/>
              </a:rPr>
              <a:t>        CASE</a:t>
            </a:r>
            <a:endParaRPr>
              <a:latin typeface="Times New Roman"/>
              <a:ea typeface="Times New Roman"/>
              <a:cs typeface="Times New Roman"/>
              <a:sym typeface="Times New Roman"/>
            </a:endParaRPr>
          </a:p>
          <a:p>
            <a:pPr marL="0" lvl="0" indent="0" algn="l" rtl="0">
              <a:spcBef>
                <a:spcPts val="600"/>
              </a:spcBef>
              <a:spcAft>
                <a:spcPts val="0"/>
              </a:spcAft>
              <a:buSzPct val="80000"/>
              <a:buNone/>
            </a:pPr>
            <a:r>
              <a:rPr lang="en-IN" sz="1500" i="1">
                <a:latin typeface="Times New Roman"/>
                <a:ea typeface="Times New Roman"/>
                <a:cs typeface="Times New Roman"/>
                <a:sym typeface="Times New Roman"/>
              </a:rPr>
              <a:t>            WHEN Age BETWEEN 18 AND 25 THEN '18-25'</a:t>
            </a:r>
            <a:endParaRPr sz="1500">
              <a:latin typeface="Times New Roman"/>
              <a:ea typeface="Times New Roman"/>
              <a:cs typeface="Times New Roman"/>
              <a:sym typeface="Times New Roman"/>
            </a:endParaRPr>
          </a:p>
          <a:p>
            <a:pPr marL="0" lvl="0" indent="0" algn="l" rtl="0">
              <a:spcBef>
                <a:spcPts val="600"/>
              </a:spcBef>
              <a:spcAft>
                <a:spcPts val="0"/>
              </a:spcAft>
              <a:buSzPct val="80000"/>
              <a:buNone/>
            </a:pPr>
            <a:r>
              <a:rPr lang="en-IN" sz="1500" i="1">
                <a:latin typeface="Times New Roman"/>
                <a:ea typeface="Times New Roman"/>
                <a:cs typeface="Times New Roman"/>
                <a:sym typeface="Times New Roman"/>
              </a:rPr>
              <a:t>            WHEN Age BETWEEN 26 AND 35 THEN '26-35'</a:t>
            </a:r>
            <a:endParaRPr sz="1500">
              <a:latin typeface="Times New Roman"/>
              <a:ea typeface="Times New Roman"/>
              <a:cs typeface="Times New Roman"/>
              <a:sym typeface="Times New Roman"/>
            </a:endParaRPr>
          </a:p>
          <a:p>
            <a:pPr marL="0" lvl="0" indent="0" algn="l" rtl="0">
              <a:spcBef>
                <a:spcPts val="600"/>
              </a:spcBef>
              <a:spcAft>
                <a:spcPts val="0"/>
              </a:spcAft>
              <a:buSzPct val="80000"/>
              <a:buNone/>
            </a:pPr>
            <a:r>
              <a:rPr lang="en-IN" sz="1500" i="1">
                <a:latin typeface="Times New Roman"/>
                <a:ea typeface="Times New Roman"/>
                <a:cs typeface="Times New Roman"/>
                <a:sym typeface="Times New Roman"/>
              </a:rPr>
              <a:t>            WHEN Age BETWEEN 36 AND 45 THEN '36-45'</a:t>
            </a:r>
            <a:endParaRPr sz="1500">
              <a:latin typeface="Times New Roman"/>
              <a:ea typeface="Times New Roman"/>
              <a:cs typeface="Times New Roman"/>
              <a:sym typeface="Times New Roman"/>
            </a:endParaRPr>
          </a:p>
          <a:p>
            <a:pPr marL="0" lvl="0" indent="0" algn="l" rtl="0">
              <a:spcBef>
                <a:spcPts val="600"/>
              </a:spcBef>
              <a:spcAft>
                <a:spcPts val="0"/>
              </a:spcAft>
              <a:buSzPct val="80000"/>
              <a:buNone/>
            </a:pPr>
            <a:r>
              <a:rPr lang="en-IN" sz="1500" i="1">
                <a:latin typeface="Times New Roman"/>
                <a:ea typeface="Times New Roman"/>
                <a:cs typeface="Times New Roman"/>
                <a:sym typeface="Times New Roman"/>
              </a:rPr>
              <a:t>            WHEN Age BETWEEN 46 AND 60 THEN '46-60'</a:t>
            </a:r>
            <a:endParaRPr sz="1500">
              <a:latin typeface="Times New Roman"/>
              <a:ea typeface="Times New Roman"/>
              <a:cs typeface="Times New Roman"/>
              <a:sym typeface="Times New Roman"/>
            </a:endParaRPr>
          </a:p>
          <a:p>
            <a:pPr marL="0" lvl="0" indent="0" algn="l" rtl="0">
              <a:spcBef>
                <a:spcPts val="1000"/>
              </a:spcBef>
              <a:spcAft>
                <a:spcPts val="0"/>
              </a:spcAft>
              <a:buSzPct val="80000"/>
              <a:buNone/>
            </a:pPr>
            <a:r>
              <a:rPr lang="en-IN" i="1">
                <a:latin typeface="Times New Roman"/>
                <a:ea typeface="Times New Roman"/>
                <a:cs typeface="Times New Roman"/>
                <a:sym typeface="Times New Roman"/>
              </a:rPr>
              <a:t>            ELSE '60+'</a:t>
            </a:r>
            <a:endParaRPr>
              <a:latin typeface="Times New Roman"/>
              <a:ea typeface="Times New Roman"/>
              <a:cs typeface="Times New Roman"/>
              <a:sym typeface="Times New Roman"/>
            </a:endParaRPr>
          </a:p>
          <a:p>
            <a:pPr marL="0" lvl="0" indent="0" algn="l" rtl="0">
              <a:spcBef>
                <a:spcPts val="1000"/>
              </a:spcBef>
              <a:spcAft>
                <a:spcPts val="0"/>
              </a:spcAft>
              <a:buSzPct val="80000"/>
              <a:buNone/>
            </a:pPr>
            <a:r>
              <a:rPr lang="en-IN" i="1">
                <a:latin typeface="Times New Roman"/>
                <a:ea typeface="Times New Roman"/>
                <a:cs typeface="Times New Roman"/>
                <a:sym typeface="Times New Roman"/>
              </a:rPr>
              <a:t>        END AS Age_Group,</a:t>
            </a:r>
            <a:endParaRPr>
              <a:latin typeface="Times New Roman"/>
              <a:ea typeface="Times New Roman"/>
              <a:cs typeface="Times New Roman"/>
              <a:sym typeface="Times New Roman"/>
            </a:endParaRPr>
          </a:p>
          <a:p>
            <a:pPr marL="0" lvl="0" indent="0" algn="l" rtl="0">
              <a:spcBef>
                <a:spcPts val="1000"/>
              </a:spcBef>
              <a:spcAft>
                <a:spcPts val="0"/>
              </a:spcAft>
              <a:buSzPct val="80000"/>
              <a:buNone/>
            </a:pPr>
            <a:r>
              <a:rPr lang="en-IN" i="1">
                <a:latin typeface="Times New Roman"/>
                <a:ea typeface="Times New Roman"/>
                <a:cs typeface="Times New Roman"/>
                <a:sym typeface="Times New Roman"/>
              </a:rPr>
              <a:t>        price FROM customer) AS grouped_ages GROUP BY Age_Group ORDER BY Total_Revenue DESC</a:t>
            </a:r>
            <a:endParaRPr>
              <a:latin typeface="Times New Roman"/>
              <a:ea typeface="Times New Roman"/>
              <a:cs typeface="Times New Roman"/>
              <a:sym typeface="Times New Roman"/>
            </a:endParaRPr>
          </a:p>
          <a:p>
            <a:pPr marL="0" lvl="0" indent="0" algn="l" rtl="0">
              <a:spcBef>
                <a:spcPts val="1000"/>
              </a:spcBef>
              <a:spcAft>
                <a:spcPts val="0"/>
              </a:spcAft>
              <a:buSzPct val="80000"/>
              <a:buNone/>
            </a:pPr>
            <a:r>
              <a:rPr lang="en-IN" i="1">
                <a:latin typeface="Times New Roman"/>
                <a:ea typeface="Times New Roman"/>
                <a:cs typeface="Times New Roman"/>
                <a:sym typeface="Times New Roman"/>
              </a:rPr>
              <a:t>LIMIT 1;</a:t>
            </a:r>
            <a:endParaRPr/>
          </a:p>
          <a:p>
            <a:pPr marL="0" lvl="0" indent="0" algn="l" rtl="0">
              <a:spcBef>
                <a:spcPts val="1000"/>
              </a:spcBef>
              <a:spcAft>
                <a:spcPts val="0"/>
              </a:spcAft>
              <a:buSzPct val="80000"/>
              <a:buNone/>
            </a:pPr>
            <a:endParaRPr b="1" i="1">
              <a:latin typeface="Times New Roman"/>
              <a:ea typeface="Times New Roman"/>
              <a:cs typeface="Times New Roman"/>
              <a:sym typeface="Times New Roman"/>
            </a:endParaRPr>
          </a:p>
          <a:p>
            <a:pPr marL="0" lvl="0" indent="0" algn="l" rtl="0">
              <a:spcBef>
                <a:spcPts val="1000"/>
              </a:spcBef>
              <a:spcAft>
                <a:spcPts val="0"/>
              </a:spcAft>
              <a:buSzPct val="80000"/>
              <a:buNone/>
            </a:pPr>
            <a:r>
              <a:rPr lang="en-IN" b="1" i="1" u="sng">
                <a:latin typeface="Times New Roman"/>
                <a:ea typeface="Times New Roman"/>
                <a:cs typeface="Times New Roman"/>
                <a:sym typeface="Times New Roman"/>
              </a:rPr>
              <a:t>Insight:-</a:t>
            </a:r>
            <a:endParaRPr u="sng"/>
          </a:p>
          <a:p>
            <a:pPr marL="0" lvl="0" indent="0" algn="l" rtl="0">
              <a:spcBef>
                <a:spcPts val="1000"/>
              </a:spcBef>
              <a:spcAft>
                <a:spcPts val="0"/>
              </a:spcAft>
              <a:buSzPct val="80000"/>
              <a:buNone/>
            </a:pPr>
            <a:r>
              <a:rPr lang="en-IN">
                <a:latin typeface="Times New Roman"/>
                <a:ea typeface="Times New Roman"/>
                <a:cs typeface="Times New Roman"/>
                <a:sym typeface="Times New Roman"/>
              </a:rPr>
              <a:t>Calculates revenue per age group.</a:t>
            </a:r>
            <a:r>
              <a:rPr lang="en-IN" b="1">
                <a:latin typeface="Times New Roman"/>
                <a:ea typeface="Times New Roman"/>
                <a:cs typeface="Times New Roman"/>
                <a:sym typeface="Times New Roman"/>
              </a:rPr>
              <a:t> </a:t>
            </a:r>
            <a:r>
              <a:rPr lang="en-IN">
                <a:latin typeface="Times New Roman"/>
                <a:ea typeface="Times New Roman"/>
                <a:cs typeface="Times New Roman"/>
                <a:sym typeface="Times New Roman"/>
              </a:rPr>
              <a:t>Helps prioritize marketing budget towards most valuable age segments.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4"/>
          <p:cNvSpPr txBox="1">
            <a:spLocks noGrp="1"/>
          </p:cNvSpPr>
          <p:nvPr>
            <p:ph type="title"/>
          </p:nvPr>
        </p:nvSpPr>
        <p:spPr>
          <a:xfrm>
            <a:off x="839788" y="457200"/>
            <a:ext cx="10512424" cy="740004"/>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2"/>
              </a:buClr>
              <a:buSzPts val="2400"/>
              <a:buFont typeface="Times New Roman"/>
              <a:buNone/>
            </a:pPr>
            <a:r>
              <a:rPr lang="en-IN" sz="2900" u="sng" dirty="0">
                <a:latin typeface="Times New Roman"/>
                <a:ea typeface="Times New Roman"/>
                <a:cs typeface="Times New Roman"/>
                <a:sym typeface="Times New Roman"/>
              </a:rPr>
              <a:t>8. Distribution of purchase categories relative to other columns?</a:t>
            </a:r>
            <a:endParaRPr sz="2900" u="sng" dirty="0">
              <a:latin typeface="Times New Roman"/>
              <a:ea typeface="Times New Roman"/>
              <a:cs typeface="Times New Roman"/>
              <a:sym typeface="Times New Roman"/>
            </a:endParaRPr>
          </a:p>
        </p:txBody>
      </p:sp>
      <p:pic>
        <p:nvPicPr>
          <p:cNvPr id="150" name="Google Shape;150;p24"/>
          <p:cNvPicPr preferRelativeResize="0">
            <a:picLocks noGrp="1"/>
          </p:cNvPicPr>
          <p:nvPr>
            <p:ph type="body" idx="1"/>
          </p:nvPr>
        </p:nvPicPr>
        <p:blipFill rotWithShape="1">
          <a:blip r:embed="rId3">
            <a:alphaModFix/>
          </a:blip>
          <a:srcRect/>
          <a:stretch/>
        </p:blipFill>
        <p:spPr>
          <a:xfrm>
            <a:off x="5137608" y="1437026"/>
            <a:ext cx="5788058" cy="2242228"/>
          </a:xfrm>
          <a:prstGeom prst="rect">
            <a:avLst/>
          </a:prstGeom>
          <a:noFill/>
          <a:ln>
            <a:noFill/>
          </a:ln>
        </p:spPr>
      </p:pic>
      <p:sp>
        <p:nvSpPr>
          <p:cNvPr id="151" name="Google Shape;151;p24"/>
          <p:cNvSpPr txBox="1">
            <a:spLocks noGrp="1"/>
          </p:cNvSpPr>
          <p:nvPr>
            <p:ph type="body" idx="2"/>
          </p:nvPr>
        </p:nvSpPr>
        <p:spPr>
          <a:xfrm>
            <a:off x="603315" y="1630837"/>
            <a:ext cx="4534293" cy="5015060"/>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spcBef>
                <a:spcPts val="1000"/>
              </a:spcBef>
              <a:spcAft>
                <a:spcPts val="0"/>
              </a:spcAft>
              <a:buSzPct val="80000"/>
              <a:buNone/>
            </a:pPr>
            <a:r>
              <a:rPr lang="en-IN" b="1" i="1" u="sng">
                <a:latin typeface="Times New Roman"/>
                <a:ea typeface="Times New Roman"/>
                <a:cs typeface="Times New Roman"/>
                <a:sym typeface="Times New Roman"/>
              </a:rPr>
              <a:t>Query:- Purchase Category vs Gender</a:t>
            </a:r>
            <a:endParaRPr b="1" i="1" u="sng">
              <a:latin typeface="Times New Roman"/>
              <a:ea typeface="Times New Roman"/>
              <a:cs typeface="Times New Roman"/>
              <a:sym typeface="Times New Roman"/>
            </a:endParaRPr>
          </a:p>
          <a:p>
            <a:pPr marL="0" lvl="0" indent="0" algn="l" rtl="0">
              <a:spcBef>
                <a:spcPts val="1000"/>
              </a:spcBef>
              <a:spcAft>
                <a:spcPts val="0"/>
              </a:spcAft>
              <a:buSzPct val="80000"/>
              <a:buNone/>
            </a:pPr>
            <a:r>
              <a:rPr lang="en-IN" i="1">
                <a:latin typeface="Times New Roman"/>
                <a:ea typeface="Times New Roman"/>
                <a:cs typeface="Times New Roman"/>
                <a:sym typeface="Times New Roman"/>
              </a:rPr>
              <a:t>select gender, category, count(quantity) as Total_Purchases, sum(price) as Total_revenue from customer group by gender, CategoryORDER BY Total_Revenue DESC;</a:t>
            </a:r>
            <a:endParaRPr/>
          </a:p>
          <a:p>
            <a:pPr marL="0" lvl="0" indent="0" algn="l" rtl="0">
              <a:spcBef>
                <a:spcPts val="1000"/>
              </a:spcBef>
              <a:spcAft>
                <a:spcPts val="0"/>
              </a:spcAft>
              <a:buSzPct val="80000"/>
              <a:buNone/>
            </a:pPr>
            <a:endParaRPr>
              <a:latin typeface="Times New Roman"/>
              <a:ea typeface="Times New Roman"/>
              <a:cs typeface="Times New Roman"/>
              <a:sym typeface="Times New Roman"/>
            </a:endParaRPr>
          </a:p>
          <a:p>
            <a:pPr marL="0" lvl="0" indent="0" algn="l" rtl="0">
              <a:spcBef>
                <a:spcPts val="1000"/>
              </a:spcBef>
              <a:spcAft>
                <a:spcPts val="0"/>
              </a:spcAft>
              <a:buSzPct val="80000"/>
              <a:buNone/>
            </a:pPr>
            <a:r>
              <a:rPr lang="en-IN" b="1" i="1" u="sng">
                <a:latin typeface="Times New Roman"/>
                <a:ea typeface="Times New Roman"/>
                <a:cs typeface="Times New Roman"/>
                <a:sym typeface="Times New Roman"/>
              </a:rPr>
              <a:t>Query:- Purchase Category vs Age Group</a:t>
            </a:r>
            <a:endParaRPr b="1" i="1" u="sng">
              <a:latin typeface="Times New Roman"/>
              <a:ea typeface="Times New Roman"/>
              <a:cs typeface="Times New Roman"/>
              <a:sym typeface="Times New Roman"/>
            </a:endParaRPr>
          </a:p>
          <a:p>
            <a:pPr marL="0" lvl="0" indent="0" algn="l" rtl="0">
              <a:spcBef>
                <a:spcPts val="1000"/>
              </a:spcBef>
              <a:spcAft>
                <a:spcPts val="0"/>
              </a:spcAft>
              <a:buSzPct val="80000"/>
              <a:buNone/>
            </a:pPr>
            <a:r>
              <a:rPr lang="en-IN" i="1">
                <a:latin typeface="Times New Roman"/>
                <a:ea typeface="Times New Roman"/>
                <a:cs typeface="Times New Roman"/>
                <a:sym typeface="Times New Roman"/>
              </a:rPr>
              <a:t>SELECT Age_Group, Category, COUNT(*) AS Total_Purchases, SUM(price) AS Total_Revenue FROM (</a:t>
            </a:r>
            <a:endParaRPr>
              <a:latin typeface="Times New Roman"/>
              <a:ea typeface="Times New Roman"/>
              <a:cs typeface="Times New Roman"/>
              <a:sym typeface="Times New Roman"/>
            </a:endParaRPr>
          </a:p>
          <a:p>
            <a:pPr marL="0" lvl="0" indent="0" algn="l" rtl="0">
              <a:spcBef>
                <a:spcPts val="1000"/>
              </a:spcBef>
              <a:spcAft>
                <a:spcPts val="0"/>
              </a:spcAft>
              <a:buSzPct val="80000"/>
              <a:buNone/>
            </a:pPr>
            <a:r>
              <a:rPr lang="en-IN" i="1">
                <a:latin typeface="Times New Roman"/>
                <a:ea typeface="Times New Roman"/>
                <a:cs typeface="Times New Roman"/>
                <a:sym typeface="Times New Roman"/>
              </a:rPr>
              <a:t>    SELECT Category,</a:t>
            </a:r>
            <a:r>
              <a:rPr lang="en-IN">
                <a:latin typeface="Times New Roman"/>
                <a:ea typeface="Times New Roman"/>
                <a:cs typeface="Times New Roman"/>
                <a:sym typeface="Times New Roman"/>
              </a:rPr>
              <a:t> </a:t>
            </a:r>
            <a:r>
              <a:rPr lang="en-IN" i="1">
                <a:latin typeface="Times New Roman"/>
                <a:ea typeface="Times New Roman"/>
                <a:cs typeface="Times New Roman"/>
                <a:sym typeface="Times New Roman"/>
              </a:rPr>
              <a:t>price,</a:t>
            </a:r>
            <a:endParaRPr>
              <a:latin typeface="Times New Roman"/>
              <a:ea typeface="Times New Roman"/>
              <a:cs typeface="Times New Roman"/>
              <a:sym typeface="Times New Roman"/>
            </a:endParaRPr>
          </a:p>
          <a:p>
            <a:pPr marL="0" lvl="0" indent="0" algn="l" rtl="0">
              <a:spcBef>
                <a:spcPts val="1000"/>
              </a:spcBef>
              <a:spcAft>
                <a:spcPts val="0"/>
              </a:spcAft>
              <a:buSzPct val="80000"/>
              <a:buNone/>
            </a:pPr>
            <a:r>
              <a:rPr lang="en-IN" i="1">
                <a:latin typeface="Times New Roman"/>
                <a:ea typeface="Times New Roman"/>
                <a:cs typeface="Times New Roman"/>
                <a:sym typeface="Times New Roman"/>
              </a:rPr>
              <a:t>        CASE</a:t>
            </a:r>
            <a:endParaRPr>
              <a:latin typeface="Times New Roman"/>
              <a:ea typeface="Times New Roman"/>
              <a:cs typeface="Times New Roman"/>
              <a:sym typeface="Times New Roman"/>
            </a:endParaRPr>
          </a:p>
          <a:p>
            <a:pPr marL="0" lvl="0" indent="0" algn="l" rtl="0">
              <a:spcBef>
                <a:spcPts val="1000"/>
              </a:spcBef>
              <a:spcAft>
                <a:spcPts val="0"/>
              </a:spcAft>
              <a:buSzPct val="80000"/>
              <a:buNone/>
            </a:pPr>
            <a:r>
              <a:rPr lang="en-IN" i="1">
                <a:latin typeface="Times New Roman"/>
                <a:ea typeface="Times New Roman"/>
                <a:cs typeface="Times New Roman"/>
                <a:sym typeface="Times New Roman"/>
              </a:rPr>
              <a:t>            WHEN Age BETWEEN 18 AND 25 THEN '18-25'</a:t>
            </a:r>
            <a:endParaRPr>
              <a:latin typeface="Times New Roman"/>
              <a:ea typeface="Times New Roman"/>
              <a:cs typeface="Times New Roman"/>
              <a:sym typeface="Times New Roman"/>
            </a:endParaRPr>
          </a:p>
          <a:p>
            <a:pPr marL="0" lvl="0" indent="0" algn="l" rtl="0">
              <a:spcBef>
                <a:spcPts val="1000"/>
              </a:spcBef>
              <a:spcAft>
                <a:spcPts val="0"/>
              </a:spcAft>
              <a:buSzPct val="80000"/>
              <a:buNone/>
            </a:pPr>
            <a:r>
              <a:rPr lang="en-IN" i="1">
                <a:latin typeface="Times New Roman"/>
                <a:ea typeface="Times New Roman"/>
                <a:cs typeface="Times New Roman"/>
                <a:sym typeface="Times New Roman"/>
              </a:rPr>
              <a:t>            WHEN Age BETWEEN 26 AND 35 THEN '26-35'</a:t>
            </a:r>
            <a:endParaRPr>
              <a:latin typeface="Times New Roman"/>
              <a:ea typeface="Times New Roman"/>
              <a:cs typeface="Times New Roman"/>
              <a:sym typeface="Times New Roman"/>
            </a:endParaRPr>
          </a:p>
          <a:p>
            <a:pPr marL="0" lvl="0" indent="0" algn="l" rtl="0">
              <a:spcBef>
                <a:spcPts val="1000"/>
              </a:spcBef>
              <a:spcAft>
                <a:spcPts val="0"/>
              </a:spcAft>
              <a:buSzPct val="80000"/>
              <a:buNone/>
            </a:pPr>
            <a:r>
              <a:rPr lang="en-IN" i="1">
                <a:latin typeface="Times New Roman"/>
                <a:ea typeface="Times New Roman"/>
                <a:cs typeface="Times New Roman"/>
                <a:sym typeface="Times New Roman"/>
              </a:rPr>
              <a:t>            WHEN Age BETWEEN 36 AND 45 THEN '36-45'</a:t>
            </a:r>
            <a:endParaRPr>
              <a:latin typeface="Times New Roman"/>
              <a:ea typeface="Times New Roman"/>
              <a:cs typeface="Times New Roman"/>
              <a:sym typeface="Times New Roman"/>
            </a:endParaRPr>
          </a:p>
          <a:p>
            <a:pPr marL="0" lvl="0" indent="0" algn="l" rtl="0">
              <a:spcBef>
                <a:spcPts val="1000"/>
              </a:spcBef>
              <a:spcAft>
                <a:spcPts val="0"/>
              </a:spcAft>
              <a:buSzPct val="80000"/>
              <a:buNone/>
            </a:pPr>
            <a:r>
              <a:rPr lang="en-IN" i="1">
                <a:latin typeface="Times New Roman"/>
                <a:ea typeface="Times New Roman"/>
                <a:cs typeface="Times New Roman"/>
                <a:sym typeface="Times New Roman"/>
              </a:rPr>
              <a:t>            WHEN Age BETWEEN 46 AND 60 THEN '46-60'</a:t>
            </a:r>
            <a:endParaRPr>
              <a:latin typeface="Times New Roman"/>
              <a:ea typeface="Times New Roman"/>
              <a:cs typeface="Times New Roman"/>
              <a:sym typeface="Times New Roman"/>
            </a:endParaRPr>
          </a:p>
          <a:p>
            <a:pPr marL="0" lvl="0" indent="0" algn="l" rtl="0">
              <a:spcBef>
                <a:spcPts val="1000"/>
              </a:spcBef>
              <a:spcAft>
                <a:spcPts val="0"/>
              </a:spcAft>
              <a:buSzPct val="80000"/>
              <a:buNone/>
            </a:pPr>
            <a:r>
              <a:rPr lang="en-IN" i="1">
                <a:latin typeface="Times New Roman"/>
                <a:ea typeface="Times New Roman"/>
                <a:cs typeface="Times New Roman"/>
                <a:sym typeface="Times New Roman"/>
              </a:rPr>
              <a:t>            ELSE '60+'</a:t>
            </a:r>
            <a:endParaRPr>
              <a:latin typeface="Times New Roman"/>
              <a:ea typeface="Times New Roman"/>
              <a:cs typeface="Times New Roman"/>
              <a:sym typeface="Times New Roman"/>
            </a:endParaRPr>
          </a:p>
          <a:p>
            <a:pPr marL="0" lvl="0" indent="0" algn="l" rtl="0">
              <a:spcBef>
                <a:spcPts val="1000"/>
              </a:spcBef>
              <a:spcAft>
                <a:spcPts val="0"/>
              </a:spcAft>
              <a:buSzPct val="80000"/>
              <a:buNone/>
            </a:pPr>
            <a:r>
              <a:rPr lang="en-IN" i="1">
                <a:latin typeface="Times New Roman"/>
                <a:ea typeface="Times New Roman"/>
                <a:cs typeface="Times New Roman"/>
                <a:sym typeface="Times New Roman"/>
              </a:rPr>
              <a:t>        END AS Age_Group FROM customer) AS grouped_data GROUP BY Age_Group, Category ORDER BY Age_Group, Total_Revenue DESC;</a:t>
            </a:r>
            <a:endParaRPr>
              <a:latin typeface="Times New Roman"/>
              <a:ea typeface="Times New Roman"/>
              <a:cs typeface="Times New Roman"/>
              <a:sym typeface="Times New Roman"/>
            </a:endParaRPr>
          </a:p>
        </p:txBody>
      </p:sp>
      <p:pic>
        <p:nvPicPr>
          <p:cNvPr id="152" name="Google Shape;152;p24"/>
          <p:cNvPicPr preferRelativeResize="0"/>
          <p:nvPr/>
        </p:nvPicPr>
        <p:blipFill rotWithShape="1">
          <a:blip r:embed="rId4">
            <a:alphaModFix/>
          </a:blip>
          <a:srcRect/>
          <a:stretch/>
        </p:blipFill>
        <p:spPr>
          <a:xfrm>
            <a:off x="5137608" y="4005155"/>
            <a:ext cx="5788058" cy="241853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pic>
        <p:nvPicPr>
          <p:cNvPr id="158" name="Google Shape;158;p25"/>
          <p:cNvPicPr preferRelativeResize="0">
            <a:picLocks noGrp="1"/>
          </p:cNvPicPr>
          <p:nvPr>
            <p:ph type="body" idx="1"/>
          </p:nvPr>
        </p:nvPicPr>
        <p:blipFill rotWithShape="1">
          <a:blip r:embed="rId3">
            <a:alphaModFix/>
          </a:blip>
          <a:srcRect/>
          <a:stretch/>
        </p:blipFill>
        <p:spPr>
          <a:xfrm>
            <a:off x="5426200" y="1838250"/>
            <a:ext cx="5804100" cy="3805200"/>
          </a:xfrm>
          <a:prstGeom prst="rect">
            <a:avLst/>
          </a:prstGeom>
          <a:noFill/>
          <a:ln>
            <a:noFill/>
          </a:ln>
        </p:spPr>
      </p:pic>
      <p:sp>
        <p:nvSpPr>
          <p:cNvPr id="159" name="Google Shape;159;p25"/>
          <p:cNvSpPr txBox="1">
            <a:spLocks noGrp="1"/>
          </p:cNvSpPr>
          <p:nvPr>
            <p:ph type="body" idx="2"/>
          </p:nvPr>
        </p:nvSpPr>
        <p:spPr>
          <a:xfrm>
            <a:off x="839788" y="1725105"/>
            <a:ext cx="4288393" cy="414388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20"/>
              <a:buNone/>
            </a:pPr>
            <a:r>
              <a:rPr lang="en-IN" sz="1700" b="1" i="1" u="sng">
                <a:latin typeface="Times New Roman"/>
                <a:ea typeface="Times New Roman"/>
                <a:cs typeface="Times New Roman"/>
                <a:sym typeface="Times New Roman"/>
              </a:rPr>
              <a:t>Query:- Purchase Category vs Payment Method</a:t>
            </a:r>
            <a:endParaRPr sz="1700" b="1" i="1" u="sng">
              <a:latin typeface="Times New Roman"/>
              <a:ea typeface="Times New Roman"/>
              <a:cs typeface="Times New Roman"/>
              <a:sym typeface="Times New Roman"/>
            </a:endParaRPr>
          </a:p>
          <a:p>
            <a:pPr marL="0" lvl="0" indent="0" algn="l" rtl="0">
              <a:spcBef>
                <a:spcPts val="1000"/>
              </a:spcBef>
              <a:spcAft>
                <a:spcPts val="0"/>
              </a:spcAft>
              <a:buSzPts val="1120"/>
              <a:buNone/>
            </a:pPr>
            <a:r>
              <a:rPr lang="en-IN" sz="1700" i="1">
                <a:latin typeface="Times New Roman"/>
                <a:ea typeface="Times New Roman"/>
                <a:cs typeface="Times New Roman"/>
                <a:sym typeface="Times New Roman"/>
              </a:rPr>
              <a:t>SELECT Payment_Method,</a:t>
            </a:r>
            <a:r>
              <a:rPr lang="en-IN" sz="1700">
                <a:latin typeface="Times New Roman"/>
                <a:ea typeface="Times New Roman"/>
                <a:cs typeface="Times New Roman"/>
                <a:sym typeface="Times New Roman"/>
              </a:rPr>
              <a:t> </a:t>
            </a:r>
            <a:r>
              <a:rPr lang="en-IN" sz="1700" i="1">
                <a:latin typeface="Times New Roman"/>
                <a:ea typeface="Times New Roman"/>
                <a:cs typeface="Times New Roman"/>
                <a:sym typeface="Times New Roman"/>
              </a:rPr>
              <a:t>Category,</a:t>
            </a:r>
            <a:endParaRPr sz="1700">
              <a:latin typeface="Times New Roman"/>
              <a:ea typeface="Times New Roman"/>
              <a:cs typeface="Times New Roman"/>
              <a:sym typeface="Times New Roman"/>
            </a:endParaRPr>
          </a:p>
          <a:p>
            <a:pPr marL="0" lvl="0" indent="0" algn="l" rtl="0">
              <a:spcBef>
                <a:spcPts val="1000"/>
              </a:spcBef>
              <a:spcAft>
                <a:spcPts val="0"/>
              </a:spcAft>
              <a:buSzPts val="1120"/>
              <a:buNone/>
            </a:pPr>
            <a:r>
              <a:rPr lang="en-IN" sz="1700" i="1">
                <a:latin typeface="Times New Roman"/>
                <a:ea typeface="Times New Roman"/>
                <a:cs typeface="Times New Roman"/>
                <a:sym typeface="Times New Roman"/>
              </a:rPr>
              <a:t>    COUNT(*) AS Total_Purchases,</a:t>
            </a:r>
            <a:endParaRPr sz="1700">
              <a:latin typeface="Times New Roman"/>
              <a:ea typeface="Times New Roman"/>
              <a:cs typeface="Times New Roman"/>
              <a:sym typeface="Times New Roman"/>
            </a:endParaRPr>
          </a:p>
          <a:p>
            <a:pPr marL="0" lvl="0" indent="0" algn="l" rtl="0">
              <a:spcBef>
                <a:spcPts val="1000"/>
              </a:spcBef>
              <a:spcAft>
                <a:spcPts val="0"/>
              </a:spcAft>
              <a:buSzPts val="1120"/>
              <a:buNone/>
            </a:pPr>
            <a:r>
              <a:rPr lang="en-IN" sz="1700" i="1">
                <a:latin typeface="Times New Roman"/>
                <a:ea typeface="Times New Roman"/>
                <a:cs typeface="Times New Roman"/>
                <a:sym typeface="Times New Roman"/>
              </a:rPr>
              <a:t>    SUM(price) AS Total_Revenue</a:t>
            </a:r>
            <a:endParaRPr sz="1700">
              <a:latin typeface="Times New Roman"/>
              <a:ea typeface="Times New Roman"/>
              <a:cs typeface="Times New Roman"/>
              <a:sym typeface="Times New Roman"/>
            </a:endParaRPr>
          </a:p>
          <a:p>
            <a:pPr marL="0" lvl="0" indent="0" algn="l" rtl="0">
              <a:spcBef>
                <a:spcPts val="1000"/>
              </a:spcBef>
              <a:spcAft>
                <a:spcPts val="0"/>
              </a:spcAft>
              <a:buSzPts val="1120"/>
              <a:buNone/>
            </a:pPr>
            <a:r>
              <a:rPr lang="en-IN" sz="1700" i="1">
                <a:latin typeface="Times New Roman"/>
                <a:ea typeface="Times New Roman"/>
                <a:cs typeface="Times New Roman"/>
                <a:sym typeface="Times New Roman"/>
              </a:rPr>
              <a:t>FROM customer</a:t>
            </a:r>
            <a:endParaRPr sz="1700">
              <a:latin typeface="Times New Roman"/>
              <a:ea typeface="Times New Roman"/>
              <a:cs typeface="Times New Roman"/>
              <a:sym typeface="Times New Roman"/>
            </a:endParaRPr>
          </a:p>
          <a:p>
            <a:pPr marL="0" lvl="0" indent="0" algn="l" rtl="0">
              <a:spcBef>
                <a:spcPts val="1000"/>
              </a:spcBef>
              <a:spcAft>
                <a:spcPts val="0"/>
              </a:spcAft>
              <a:buSzPts val="1120"/>
              <a:buNone/>
            </a:pPr>
            <a:r>
              <a:rPr lang="en-IN" sz="1700" i="1">
                <a:latin typeface="Times New Roman"/>
                <a:ea typeface="Times New Roman"/>
                <a:cs typeface="Times New Roman"/>
                <a:sym typeface="Times New Roman"/>
              </a:rPr>
              <a:t>GROUP BY Payment_Method, Category</a:t>
            </a:r>
            <a:endParaRPr sz="1700">
              <a:latin typeface="Times New Roman"/>
              <a:ea typeface="Times New Roman"/>
              <a:cs typeface="Times New Roman"/>
              <a:sym typeface="Times New Roman"/>
            </a:endParaRPr>
          </a:p>
          <a:p>
            <a:pPr marL="0" lvl="0" indent="0" algn="l" rtl="0">
              <a:spcBef>
                <a:spcPts val="1000"/>
              </a:spcBef>
              <a:spcAft>
                <a:spcPts val="0"/>
              </a:spcAft>
              <a:buSzPts val="1120"/>
              <a:buNone/>
            </a:pPr>
            <a:r>
              <a:rPr lang="en-IN" sz="1700" i="1">
                <a:latin typeface="Times New Roman"/>
                <a:ea typeface="Times New Roman"/>
                <a:cs typeface="Times New Roman"/>
                <a:sym typeface="Times New Roman"/>
              </a:rPr>
              <a:t>ORDER BY Total_Revenue DESC;</a:t>
            </a:r>
            <a:endParaRPr sz="1700">
              <a:latin typeface="Times New Roman"/>
              <a:ea typeface="Times New Roman"/>
              <a:cs typeface="Times New Roman"/>
              <a:sym typeface="Times New Roman"/>
            </a:endParaRPr>
          </a:p>
          <a:p>
            <a:pPr marL="0" lvl="0" indent="0" algn="l" rtl="0">
              <a:spcBef>
                <a:spcPts val="1000"/>
              </a:spcBef>
              <a:spcAft>
                <a:spcPts val="0"/>
              </a:spcAft>
              <a:buSzPts val="1120"/>
              <a:buNone/>
            </a:pPr>
            <a:endParaRPr sz="1700">
              <a:latin typeface="Times New Roman"/>
              <a:ea typeface="Times New Roman"/>
              <a:cs typeface="Times New Roman"/>
              <a:sym typeface="Times New Roman"/>
            </a:endParaRPr>
          </a:p>
        </p:txBody>
      </p:sp>
      <p:sp>
        <p:nvSpPr>
          <p:cNvPr id="160" name="Google Shape;160;p25"/>
          <p:cNvSpPr/>
          <p:nvPr/>
        </p:nvSpPr>
        <p:spPr>
          <a:xfrm>
            <a:off x="763575" y="551600"/>
            <a:ext cx="10919400" cy="763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IN" sz="2800" u="sng" dirty="0">
                <a:solidFill>
                  <a:schemeClr val="dk1"/>
                </a:solidFill>
                <a:latin typeface="Times New Roman"/>
                <a:ea typeface="Times New Roman"/>
                <a:cs typeface="Times New Roman"/>
                <a:sym typeface="Times New Roman"/>
              </a:rPr>
              <a:t>2nd slide of Distribution of purchase categories relative to other columns? </a:t>
            </a:r>
            <a:r>
              <a:rPr lang="en-IN" sz="2400" b="0" i="0" u="sng" strike="noStrike" cap="none" dirty="0">
                <a:solidFill>
                  <a:schemeClr val="lt1"/>
                </a:solidFill>
                <a:latin typeface="Times New Roman"/>
                <a:ea typeface="Times New Roman"/>
                <a:cs typeface="Times New Roman"/>
                <a:sym typeface="Times New Roman"/>
              </a:rPr>
              <a:t>on of purchase categories relative to other columns?</a:t>
            </a:r>
            <a:endParaRPr sz="2400" u="sng" dirty="0">
              <a:solidFill>
                <a:schemeClr val="lt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6"/>
          <p:cNvSpPr txBox="1">
            <a:spLocks noGrp="1"/>
          </p:cNvSpPr>
          <p:nvPr>
            <p:ph type="title"/>
          </p:nvPr>
        </p:nvSpPr>
        <p:spPr>
          <a:xfrm>
            <a:off x="839788" y="457200"/>
            <a:ext cx="10512424" cy="740004"/>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2"/>
              </a:buClr>
              <a:buSzPts val="2400"/>
              <a:buFont typeface="Times New Roman"/>
              <a:buNone/>
            </a:pPr>
            <a:r>
              <a:rPr lang="en-IN" sz="3000" u="sng" dirty="0">
                <a:latin typeface="Times New Roman"/>
                <a:ea typeface="Times New Roman"/>
                <a:cs typeface="Times New Roman"/>
                <a:sym typeface="Times New Roman"/>
              </a:rPr>
              <a:t>9. Does the payment method have a relation with other columns?</a:t>
            </a:r>
            <a:endParaRPr sz="3000" u="sng" dirty="0">
              <a:latin typeface="Times New Roman"/>
              <a:ea typeface="Times New Roman"/>
              <a:cs typeface="Times New Roman"/>
              <a:sym typeface="Times New Roman"/>
            </a:endParaRPr>
          </a:p>
        </p:txBody>
      </p:sp>
      <p:pic>
        <p:nvPicPr>
          <p:cNvPr id="167" name="Google Shape;167;p26"/>
          <p:cNvPicPr preferRelativeResize="0">
            <a:picLocks noGrp="1"/>
          </p:cNvPicPr>
          <p:nvPr>
            <p:ph type="body" idx="1"/>
          </p:nvPr>
        </p:nvPicPr>
        <p:blipFill rotWithShape="1">
          <a:blip r:embed="rId3">
            <a:alphaModFix/>
          </a:blip>
          <a:srcRect/>
          <a:stretch/>
        </p:blipFill>
        <p:spPr>
          <a:xfrm>
            <a:off x="5782875" y="1839156"/>
            <a:ext cx="5048400" cy="2870700"/>
          </a:xfrm>
          <a:prstGeom prst="rect">
            <a:avLst/>
          </a:prstGeom>
          <a:noFill/>
          <a:ln>
            <a:noFill/>
          </a:ln>
        </p:spPr>
      </p:pic>
      <p:sp>
        <p:nvSpPr>
          <p:cNvPr id="168" name="Google Shape;168;p26"/>
          <p:cNvSpPr txBox="1">
            <a:spLocks noGrp="1"/>
          </p:cNvSpPr>
          <p:nvPr>
            <p:ph type="body" idx="2"/>
          </p:nvPr>
        </p:nvSpPr>
        <p:spPr>
          <a:xfrm>
            <a:off x="603315" y="1630837"/>
            <a:ext cx="4534293" cy="501506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120"/>
              <a:buNone/>
            </a:pPr>
            <a:r>
              <a:rPr lang="en-IN" sz="1800" b="1" i="1" u="sng">
                <a:latin typeface="Times New Roman"/>
                <a:ea typeface="Times New Roman"/>
                <a:cs typeface="Times New Roman"/>
                <a:sym typeface="Times New Roman"/>
              </a:rPr>
              <a:t>Query:- Payment × Gender</a:t>
            </a:r>
            <a:endParaRPr sz="1800" u="sng"/>
          </a:p>
          <a:p>
            <a:pPr marL="0" lvl="0" indent="0" algn="l" rtl="0">
              <a:spcBef>
                <a:spcPts val="1000"/>
              </a:spcBef>
              <a:spcAft>
                <a:spcPts val="0"/>
              </a:spcAft>
              <a:buSzPts val="1120"/>
              <a:buNone/>
            </a:pPr>
            <a:r>
              <a:rPr lang="en-IN" sz="1800" i="1">
                <a:latin typeface="Times New Roman"/>
                <a:ea typeface="Times New Roman"/>
                <a:cs typeface="Times New Roman"/>
                <a:sym typeface="Times New Roman"/>
              </a:rPr>
              <a:t>SELECT payment_method, gender,       COUNT(*) AS transactions,       SUM(quantity) AS total_items,       SUM(quantity*price) AS revenue FROM customer GROUP BY payment_method, gender ORDER BY payment_method, transactions DESC;</a:t>
            </a:r>
            <a:r>
              <a:rPr lang="en-IN" sz="1800">
                <a:latin typeface="Times New Roman"/>
                <a:ea typeface="Times New Roman"/>
                <a:cs typeface="Times New Roman"/>
                <a:sym typeface="Times New Roman"/>
              </a:rPr>
              <a:t>S</a:t>
            </a:r>
            <a:endParaRPr sz="1800" i="1"/>
          </a:p>
          <a:p>
            <a:pPr marL="0" lvl="0" indent="0" algn="l" rtl="0">
              <a:spcBef>
                <a:spcPts val="1000"/>
              </a:spcBef>
              <a:spcAft>
                <a:spcPts val="0"/>
              </a:spcAft>
              <a:buSzPts val="1120"/>
              <a:buNone/>
            </a:pPr>
            <a:endParaRPr sz="1800">
              <a:latin typeface="Times New Roman"/>
              <a:ea typeface="Times New Roman"/>
              <a:cs typeface="Times New Roman"/>
              <a:sym typeface="Times New Roman"/>
            </a:endParaRPr>
          </a:p>
          <a:p>
            <a:pPr marL="0" lvl="0" indent="0" algn="l" rtl="0">
              <a:spcBef>
                <a:spcPts val="1000"/>
              </a:spcBef>
              <a:spcAft>
                <a:spcPts val="0"/>
              </a:spcAft>
              <a:buSzPts val="1120"/>
              <a:buNone/>
            </a:pPr>
            <a:r>
              <a:rPr lang="en-IN" sz="1800" b="1" i="1" u="sng">
                <a:latin typeface="Times New Roman"/>
                <a:ea typeface="Times New Roman"/>
                <a:cs typeface="Times New Roman"/>
                <a:sym typeface="Times New Roman"/>
              </a:rPr>
              <a:t>Insight:-</a:t>
            </a:r>
            <a:endParaRPr sz="1800" u="sng"/>
          </a:p>
          <a:p>
            <a:pPr marL="0" lvl="0" indent="0" algn="l" rtl="0">
              <a:spcBef>
                <a:spcPts val="1000"/>
              </a:spcBef>
              <a:spcAft>
                <a:spcPts val="0"/>
              </a:spcAft>
              <a:buSzPts val="1120"/>
              <a:buNone/>
            </a:pPr>
            <a:r>
              <a:rPr lang="en-IN" sz="1800">
                <a:latin typeface="Times New Roman"/>
                <a:ea typeface="Times New Roman"/>
                <a:cs typeface="Times New Roman"/>
                <a:sym typeface="Times New Roman"/>
              </a:rPr>
              <a:t>Good for bank partnerships and cashback offers.</a:t>
            </a:r>
            <a:endParaRPr sz="1800">
              <a:latin typeface="Times New Roman"/>
              <a:ea typeface="Times New Roman"/>
              <a:cs typeface="Times New Roman"/>
              <a:sym typeface="Times New Roman"/>
            </a:endParaRPr>
          </a:p>
          <a:p>
            <a:pPr marL="0" lvl="0" indent="0" algn="l" rtl="0">
              <a:spcBef>
                <a:spcPts val="1000"/>
              </a:spcBef>
              <a:spcAft>
                <a:spcPts val="0"/>
              </a:spcAft>
              <a:buSzPts val="1120"/>
              <a:buNone/>
            </a:pPr>
            <a:endParaRPr sz="18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7"/>
          <p:cNvSpPr txBox="1">
            <a:spLocks noGrp="1"/>
          </p:cNvSpPr>
          <p:nvPr>
            <p:ph type="title"/>
          </p:nvPr>
        </p:nvSpPr>
        <p:spPr>
          <a:xfrm>
            <a:off x="839788" y="457200"/>
            <a:ext cx="10512424" cy="740004"/>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2"/>
              </a:buClr>
              <a:buSzPts val="2400"/>
              <a:buFont typeface="Times New Roman"/>
              <a:buNone/>
            </a:pPr>
            <a:r>
              <a:rPr lang="en-IN" sz="3300" u="sng" dirty="0">
                <a:latin typeface="Times New Roman"/>
                <a:ea typeface="Times New Roman"/>
                <a:cs typeface="Times New Roman"/>
                <a:sym typeface="Times New Roman"/>
              </a:rPr>
              <a:t>10. How is the distribution of the payment method?</a:t>
            </a:r>
            <a:endParaRPr sz="3300" u="sng" dirty="0">
              <a:latin typeface="Times New Roman"/>
              <a:ea typeface="Times New Roman"/>
              <a:cs typeface="Times New Roman"/>
              <a:sym typeface="Times New Roman"/>
            </a:endParaRPr>
          </a:p>
        </p:txBody>
      </p:sp>
      <p:pic>
        <p:nvPicPr>
          <p:cNvPr id="175" name="Google Shape;175;p27"/>
          <p:cNvPicPr preferRelativeResize="0">
            <a:picLocks noGrp="1"/>
          </p:cNvPicPr>
          <p:nvPr>
            <p:ph type="body" idx="1"/>
          </p:nvPr>
        </p:nvPicPr>
        <p:blipFill rotWithShape="1">
          <a:blip r:embed="rId3">
            <a:alphaModFix/>
          </a:blip>
          <a:srcRect/>
          <a:stretch/>
        </p:blipFill>
        <p:spPr>
          <a:xfrm>
            <a:off x="5599300" y="1810750"/>
            <a:ext cx="5302200" cy="2729400"/>
          </a:xfrm>
          <a:prstGeom prst="rect">
            <a:avLst/>
          </a:prstGeom>
          <a:noFill/>
          <a:ln>
            <a:noFill/>
          </a:ln>
        </p:spPr>
      </p:pic>
      <p:sp>
        <p:nvSpPr>
          <p:cNvPr id="176" name="Google Shape;176;p27"/>
          <p:cNvSpPr txBox="1">
            <a:spLocks noGrp="1"/>
          </p:cNvSpPr>
          <p:nvPr>
            <p:ph type="body" idx="2"/>
          </p:nvPr>
        </p:nvSpPr>
        <p:spPr>
          <a:xfrm>
            <a:off x="603315" y="1630837"/>
            <a:ext cx="4534293" cy="501506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120"/>
              <a:buNone/>
            </a:pPr>
            <a:r>
              <a:rPr lang="en-IN" sz="1600" b="1" i="1" u="sng">
                <a:latin typeface="Times New Roman"/>
                <a:ea typeface="Times New Roman"/>
                <a:cs typeface="Times New Roman"/>
                <a:sym typeface="Times New Roman"/>
              </a:rPr>
              <a:t>Query:-</a:t>
            </a:r>
            <a:endParaRPr sz="1600" i="1" u="sng">
              <a:latin typeface="Times New Roman"/>
              <a:ea typeface="Times New Roman"/>
              <a:cs typeface="Times New Roman"/>
              <a:sym typeface="Times New Roman"/>
            </a:endParaRPr>
          </a:p>
          <a:p>
            <a:pPr marL="0" lvl="0" indent="0" algn="l" rtl="0">
              <a:spcBef>
                <a:spcPts val="1000"/>
              </a:spcBef>
              <a:spcAft>
                <a:spcPts val="0"/>
              </a:spcAft>
              <a:buSzPts val="1120"/>
              <a:buNone/>
            </a:pPr>
            <a:r>
              <a:rPr lang="en-IN" sz="1600" i="1">
                <a:latin typeface="Times New Roman"/>
                <a:ea typeface="Times New Roman"/>
                <a:cs typeface="Times New Roman"/>
                <a:sym typeface="Times New Roman"/>
              </a:rPr>
              <a:t>SELECT payment_method, COUNT(*) AS total_transactionsFROM customerGROUP BY payment_method;</a:t>
            </a:r>
            <a:endParaRPr sz="1600"/>
          </a:p>
          <a:p>
            <a:pPr marL="0" lvl="0" indent="0" algn="l" rtl="0">
              <a:spcBef>
                <a:spcPts val="1000"/>
              </a:spcBef>
              <a:spcAft>
                <a:spcPts val="0"/>
              </a:spcAft>
              <a:buSzPts val="1120"/>
              <a:buNone/>
            </a:pPr>
            <a:endParaRPr sz="1600">
              <a:latin typeface="Times New Roman"/>
              <a:ea typeface="Times New Roman"/>
              <a:cs typeface="Times New Roman"/>
              <a:sym typeface="Times New Roman"/>
            </a:endParaRPr>
          </a:p>
          <a:p>
            <a:pPr marL="0" lvl="0" indent="0" algn="l" rtl="0">
              <a:spcBef>
                <a:spcPts val="1000"/>
              </a:spcBef>
              <a:spcAft>
                <a:spcPts val="0"/>
              </a:spcAft>
              <a:buSzPts val="1120"/>
              <a:buNone/>
            </a:pPr>
            <a:r>
              <a:rPr lang="en-IN" sz="1600" b="1" i="1" u="sng">
                <a:latin typeface="Times New Roman"/>
                <a:ea typeface="Times New Roman"/>
                <a:cs typeface="Times New Roman"/>
                <a:sym typeface="Times New Roman"/>
              </a:rPr>
              <a:t>Insight:-</a:t>
            </a:r>
            <a:endParaRPr sz="1600" i="1" u="sng"/>
          </a:p>
          <a:p>
            <a:pPr marL="0" lvl="0" indent="0" algn="l" rtl="0">
              <a:spcBef>
                <a:spcPts val="1000"/>
              </a:spcBef>
              <a:spcAft>
                <a:spcPts val="0"/>
              </a:spcAft>
              <a:buSzPts val="1120"/>
              <a:buNone/>
            </a:pPr>
            <a:br>
              <a:rPr lang="en-IN" sz="1600">
                <a:latin typeface="Times New Roman"/>
                <a:ea typeface="Times New Roman"/>
                <a:cs typeface="Times New Roman"/>
                <a:sym typeface="Times New Roman"/>
              </a:rPr>
            </a:br>
            <a:r>
              <a:rPr lang="en-IN" sz="1600">
                <a:latin typeface="Times New Roman"/>
                <a:ea typeface="Times New Roman"/>
                <a:cs typeface="Times New Roman"/>
                <a:sym typeface="Times New Roman"/>
              </a:rPr>
              <a:t>Shows most popular payment type. Usually Credit Cash &gt; Card &gt; Debit.</a:t>
            </a:r>
            <a:endParaRPr sz="1600"/>
          </a:p>
          <a:p>
            <a:pPr marL="285750" lvl="0" indent="-298450" algn="l" rtl="0">
              <a:spcBef>
                <a:spcPts val="1000"/>
              </a:spcBef>
              <a:spcAft>
                <a:spcPts val="0"/>
              </a:spcAft>
              <a:buSzPts val="1320"/>
              <a:buFont typeface="Arial"/>
              <a:buChar char="•"/>
            </a:pPr>
            <a:r>
              <a:rPr lang="en-IN" sz="1600">
                <a:latin typeface="Times New Roman"/>
                <a:ea typeface="Times New Roman"/>
                <a:cs typeface="Times New Roman"/>
                <a:sym typeface="Times New Roman"/>
              </a:rPr>
              <a:t>Credit Cards are the most used payment method</a:t>
            </a:r>
            <a:endParaRPr sz="1600"/>
          </a:p>
          <a:p>
            <a:pPr marL="285750" lvl="0" indent="-298450" algn="l" rtl="0">
              <a:spcBef>
                <a:spcPts val="1000"/>
              </a:spcBef>
              <a:spcAft>
                <a:spcPts val="0"/>
              </a:spcAft>
              <a:buSzPts val="1320"/>
              <a:buFont typeface="Arial"/>
              <a:buChar char="•"/>
            </a:pPr>
            <a:r>
              <a:rPr lang="en-IN" sz="1600">
                <a:latin typeface="Times New Roman"/>
                <a:ea typeface="Times New Roman"/>
                <a:cs typeface="Times New Roman"/>
                <a:sym typeface="Times New Roman"/>
              </a:rPr>
              <a:t>Digital Wallets are rapidly increasing</a:t>
            </a:r>
            <a:endParaRPr sz="1600"/>
          </a:p>
          <a:p>
            <a:pPr marL="285750" lvl="0" indent="-298450" algn="l" rtl="0">
              <a:spcBef>
                <a:spcPts val="1000"/>
              </a:spcBef>
              <a:spcAft>
                <a:spcPts val="0"/>
              </a:spcAft>
              <a:buSzPts val="1320"/>
              <a:buFont typeface="Arial"/>
              <a:buChar char="•"/>
            </a:pPr>
            <a:r>
              <a:rPr lang="en-IN" sz="1600">
                <a:latin typeface="Times New Roman"/>
                <a:ea typeface="Times New Roman"/>
                <a:cs typeface="Times New Roman"/>
                <a:sym typeface="Times New Roman"/>
              </a:rPr>
              <a:t>Debit Cards have medium usage</a:t>
            </a:r>
            <a:endParaRPr sz="1600"/>
          </a:p>
          <a:p>
            <a:pPr marL="285750" lvl="0" indent="-298450" algn="l" rtl="0">
              <a:spcBef>
                <a:spcPts val="1000"/>
              </a:spcBef>
              <a:spcAft>
                <a:spcPts val="0"/>
              </a:spcAft>
              <a:buSzPts val="1320"/>
              <a:buFont typeface="Arial"/>
              <a:buChar char="•"/>
            </a:pPr>
            <a:r>
              <a:rPr lang="en-IN" sz="1600">
                <a:latin typeface="Times New Roman"/>
                <a:ea typeface="Times New Roman"/>
                <a:cs typeface="Times New Roman"/>
                <a:sym typeface="Times New Roman"/>
              </a:rPr>
              <a:t>Cash on Delivery is the least preferred</a:t>
            </a:r>
            <a:endParaRPr sz="16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1076D2"/>
            </a:gs>
            <a:gs pos="100000">
              <a:srgbClr val="093053"/>
            </a:gs>
          </a:gsLst>
          <a:path path="circle">
            <a:fillToRect l="50000" t="50000" r="50000" b="50000"/>
          </a:path>
          <a:tileRect/>
        </a:gradFill>
        <a:effectLst/>
      </p:bgPr>
    </p:bg>
    <p:spTree>
      <p:nvGrpSpPr>
        <p:cNvPr id="1" name="Shape 181"/>
        <p:cNvGrpSpPr/>
        <p:nvPr/>
      </p:nvGrpSpPr>
      <p:grpSpPr>
        <a:xfrm>
          <a:off x="0" y="0"/>
          <a:ext cx="0" cy="0"/>
          <a:chOff x="0" y="0"/>
          <a:chExt cx="0" cy="0"/>
        </a:xfrm>
      </p:grpSpPr>
      <p:sp>
        <p:nvSpPr>
          <p:cNvPr id="182" name="Google Shape;182;p28"/>
          <p:cNvSpPr txBox="1">
            <a:spLocks noGrp="1"/>
          </p:cNvSpPr>
          <p:nvPr>
            <p:ph type="title"/>
          </p:nvPr>
        </p:nvSpPr>
        <p:spPr>
          <a:xfrm>
            <a:off x="758089" y="220895"/>
            <a:ext cx="10512424" cy="782425"/>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2"/>
              </a:buClr>
              <a:buSzPts val="4400"/>
              <a:buFont typeface="Times New Roman"/>
              <a:buNone/>
            </a:pPr>
            <a:r>
              <a:rPr lang="en-IN" sz="4400" u="sng" dirty="0">
                <a:latin typeface="Times New Roman"/>
                <a:ea typeface="Times New Roman"/>
                <a:cs typeface="Times New Roman"/>
                <a:sym typeface="Times New Roman"/>
              </a:rPr>
              <a:t>11. Visualize the data using Power BI</a:t>
            </a:r>
            <a:endParaRPr sz="2800" u="sng" dirty="0">
              <a:latin typeface="Times New Roman"/>
              <a:ea typeface="Times New Roman"/>
              <a:cs typeface="Times New Roman"/>
              <a:sym typeface="Times New Roman"/>
            </a:endParaRPr>
          </a:p>
        </p:txBody>
      </p:sp>
      <p:pic>
        <p:nvPicPr>
          <p:cNvPr id="183" name="Google Shape;183;p28"/>
          <p:cNvPicPr preferRelativeResize="0">
            <a:picLocks noGrp="1"/>
          </p:cNvPicPr>
          <p:nvPr>
            <p:ph type="body" idx="1"/>
          </p:nvPr>
        </p:nvPicPr>
        <p:blipFill rotWithShape="1">
          <a:blip r:embed="rId3">
            <a:alphaModFix/>
          </a:blip>
          <a:srcRect/>
          <a:stretch/>
        </p:blipFill>
        <p:spPr>
          <a:xfrm>
            <a:off x="410967" y="1003320"/>
            <a:ext cx="11404314" cy="563378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9"/>
          <p:cNvSpPr txBox="1">
            <a:spLocks noGrp="1"/>
          </p:cNvSpPr>
          <p:nvPr>
            <p:ph type="title"/>
          </p:nvPr>
        </p:nvSpPr>
        <p:spPr>
          <a:xfrm>
            <a:off x="646100" y="452725"/>
            <a:ext cx="9947700" cy="7779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IN" u="sng" dirty="0">
                <a:latin typeface="Times New Roman"/>
                <a:ea typeface="Times New Roman"/>
                <a:cs typeface="Times New Roman"/>
                <a:sym typeface="Times New Roman"/>
              </a:rPr>
              <a:t>Key Insights of Power BI</a:t>
            </a:r>
            <a:endParaRPr u="sng" dirty="0">
              <a:latin typeface="Times New Roman"/>
              <a:ea typeface="Times New Roman"/>
              <a:cs typeface="Times New Roman"/>
              <a:sym typeface="Times New Roman"/>
            </a:endParaRPr>
          </a:p>
        </p:txBody>
      </p:sp>
      <p:sp>
        <p:nvSpPr>
          <p:cNvPr id="190" name="Google Shape;190;p29"/>
          <p:cNvSpPr txBox="1">
            <a:spLocks noGrp="1"/>
          </p:cNvSpPr>
          <p:nvPr>
            <p:ph type="body" idx="1"/>
          </p:nvPr>
        </p:nvSpPr>
        <p:spPr>
          <a:xfrm>
            <a:off x="1103300" y="1371950"/>
            <a:ext cx="10240200" cy="5033325"/>
          </a:xfrm>
          <a:prstGeom prst="rect">
            <a:avLst/>
          </a:prstGeom>
        </p:spPr>
        <p:txBody>
          <a:bodyPr spcFirstLastPara="1" wrap="square" lIns="91425" tIns="45700" rIns="91425" bIns="45700" anchor="t" anchorCtr="0">
            <a:noAutofit/>
          </a:bodyPr>
          <a:lstStyle/>
          <a:p>
            <a:pPr marL="285750" lvl="0" indent="-285750" algn="l" rtl="0">
              <a:lnSpc>
                <a:spcPct val="100000"/>
              </a:lnSpc>
              <a:spcBef>
                <a:spcPts val="0"/>
              </a:spcBef>
              <a:spcAft>
                <a:spcPts val="0"/>
              </a:spcAft>
              <a:buFont typeface="Wingdings" panose="05000000000000000000" pitchFamily="2" charset="2"/>
              <a:buChar char="v"/>
            </a:pPr>
            <a:r>
              <a:rPr lang="en-IN" sz="1700" b="1" dirty="0">
                <a:solidFill>
                  <a:schemeClr val="lt2"/>
                </a:solidFill>
                <a:latin typeface="Times New Roman"/>
                <a:ea typeface="Times New Roman"/>
                <a:cs typeface="Times New Roman"/>
                <a:sym typeface="Times New Roman"/>
              </a:rPr>
              <a:t>Total Revenue:</a:t>
            </a:r>
            <a:r>
              <a:rPr lang="en-IN" sz="1700" dirty="0">
                <a:solidFill>
                  <a:schemeClr val="lt2"/>
                </a:solidFill>
                <a:latin typeface="Times New Roman"/>
                <a:ea typeface="Times New Roman"/>
                <a:cs typeface="Times New Roman"/>
                <a:sym typeface="Times New Roman"/>
              </a:rPr>
              <a:t> 68,551K 				</a:t>
            </a:r>
          </a:p>
          <a:p>
            <a:pPr marL="285750" lvl="0" indent="-285750" algn="l" rtl="0">
              <a:lnSpc>
                <a:spcPct val="100000"/>
              </a:lnSpc>
              <a:spcBef>
                <a:spcPts val="0"/>
              </a:spcBef>
              <a:spcAft>
                <a:spcPts val="0"/>
              </a:spcAft>
              <a:buFont typeface="Wingdings" panose="05000000000000000000" pitchFamily="2" charset="2"/>
              <a:buChar char="v"/>
            </a:pPr>
            <a:r>
              <a:rPr lang="en-IN" sz="1700" b="1" dirty="0">
                <a:solidFill>
                  <a:schemeClr val="lt2"/>
                </a:solidFill>
                <a:latin typeface="Times New Roman"/>
                <a:ea typeface="Times New Roman"/>
                <a:cs typeface="Times New Roman"/>
                <a:sym typeface="Times New Roman"/>
              </a:rPr>
              <a:t>Transactions:</a:t>
            </a:r>
            <a:r>
              <a:rPr lang="en-IN" sz="1700" dirty="0">
                <a:solidFill>
                  <a:schemeClr val="lt2"/>
                </a:solidFill>
                <a:latin typeface="Times New Roman"/>
                <a:ea typeface="Times New Roman"/>
                <a:cs typeface="Times New Roman"/>
                <a:sym typeface="Times New Roman"/>
              </a:rPr>
              <a:t> 99K </a:t>
            </a:r>
            <a:endParaRPr sz="1700" dirty="0">
              <a:solidFill>
                <a:schemeClr val="lt2"/>
              </a:solidFill>
              <a:latin typeface="Times New Roman"/>
              <a:ea typeface="Times New Roman"/>
              <a:cs typeface="Times New Roman"/>
              <a:sym typeface="Times New Roman"/>
            </a:endParaRPr>
          </a:p>
          <a:p>
            <a:pPr marL="285750" lvl="0" indent="-285750" algn="l" rtl="0">
              <a:lnSpc>
                <a:spcPct val="100000"/>
              </a:lnSpc>
              <a:spcBef>
                <a:spcPts val="0"/>
              </a:spcBef>
              <a:spcAft>
                <a:spcPts val="0"/>
              </a:spcAft>
              <a:buFont typeface="Wingdings" panose="05000000000000000000" pitchFamily="2" charset="2"/>
              <a:buChar char="v"/>
            </a:pPr>
            <a:r>
              <a:rPr lang="en-IN" sz="1700" b="1" dirty="0">
                <a:solidFill>
                  <a:schemeClr val="lt2"/>
                </a:solidFill>
                <a:latin typeface="Times New Roman"/>
                <a:ea typeface="Times New Roman"/>
                <a:cs typeface="Times New Roman"/>
                <a:sym typeface="Times New Roman"/>
              </a:rPr>
              <a:t>Females = 59.8%</a:t>
            </a:r>
            <a:r>
              <a:rPr lang="en-IN" sz="1700" dirty="0">
                <a:solidFill>
                  <a:schemeClr val="lt2"/>
                </a:solidFill>
                <a:latin typeface="Times New Roman"/>
                <a:ea typeface="Times New Roman"/>
                <a:cs typeface="Times New Roman"/>
                <a:sym typeface="Times New Roman"/>
              </a:rPr>
              <a:t> of customers → highest contribution</a:t>
            </a:r>
            <a:endParaRPr sz="1700" dirty="0">
              <a:solidFill>
                <a:schemeClr val="lt2"/>
              </a:solidFill>
              <a:latin typeface="Times New Roman"/>
              <a:ea typeface="Times New Roman"/>
              <a:cs typeface="Times New Roman"/>
              <a:sym typeface="Times New Roman"/>
            </a:endParaRPr>
          </a:p>
          <a:p>
            <a:pPr marL="285750" lvl="0" indent="-285750" algn="l" rtl="0">
              <a:lnSpc>
                <a:spcPct val="100000"/>
              </a:lnSpc>
              <a:spcBef>
                <a:spcPts val="0"/>
              </a:spcBef>
              <a:spcAft>
                <a:spcPts val="0"/>
              </a:spcAft>
              <a:buFont typeface="Wingdings" panose="05000000000000000000" pitchFamily="2" charset="2"/>
              <a:buChar char="v"/>
            </a:pPr>
            <a:r>
              <a:rPr lang="en-IN" sz="1700" b="1" dirty="0">
                <a:solidFill>
                  <a:schemeClr val="lt2"/>
                </a:solidFill>
                <a:latin typeface="Times New Roman"/>
                <a:ea typeface="Times New Roman"/>
                <a:cs typeface="Times New Roman"/>
                <a:sym typeface="Times New Roman"/>
              </a:rPr>
              <a:t>Average Order Value:</a:t>
            </a:r>
            <a:r>
              <a:rPr lang="en-IN" sz="1700" dirty="0">
                <a:solidFill>
                  <a:schemeClr val="lt2"/>
                </a:solidFill>
                <a:latin typeface="Times New Roman"/>
                <a:ea typeface="Times New Roman"/>
                <a:cs typeface="Times New Roman"/>
                <a:sym typeface="Times New Roman"/>
              </a:rPr>
              <a:t> 0.69K 				</a:t>
            </a:r>
          </a:p>
          <a:p>
            <a:pPr marL="285750" lvl="0" indent="-285750" algn="l" rtl="0">
              <a:lnSpc>
                <a:spcPct val="100000"/>
              </a:lnSpc>
              <a:spcBef>
                <a:spcPts val="0"/>
              </a:spcBef>
              <a:spcAft>
                <a:spcPts val="0"/>
              </a:spcAft>
              <a:buFont typeface="Wingdings" panose="05000000000000000000" pitchFamily="2" charset="2"/>
              <a:buChar char="v"/>
            </a:pPr>
            <a:r>
              <a:rPr lang="en-IN" sz="1700" b="1" dirty="0">
                <a:solidFill>
                  <a:schemeClr val="lt2"/>
                </a:solidFill>
                <a:latin typeface="Times New Roman"/>
                <a:ea typeface="Times New Roman"/>
                <a:cs typeface="Times New Roman"/>
                <a:sym typeface="Times New Roman"/>
              </a:rPr>
              <a:t>Top age group:</a:t>
            </a:r>
            <a:r>
              <a:rPr lang="en-IN" sz="1700" dirty="0">
                <a:solidFill>
                  <a:schemeClr val="lt2"/>
                </a:solidFill>
                <a:latin typeface="Times New Roman"/>
                <a:ea typeface="Times New Roman"/>
                <a:cs typeface="Times New Roman"/>
                <a:sym typeface="Times New Roman"/>
              </a:rPr>
              <a:t> 46–60 (19.9M revenue)</a:t>
            </a:r>
            <a:endParaRPr sz="1700" dirty="0">
              <a:solidFill>
                <a:schemeClr val="lt2"/>
              </a:solidFill>
              <a:latin typeface="Times New Roman"/>
              <a:ea typeface="Times New Roman"/>
              <a:cs typeface="Times New Roman"/>
              <a:sym typeface="Times New Roman"/>
            </a:endParaRPr>
          </a:p>
          <a:p>
            <a:pPr marL="285750" lvl="0" indent="-285750" algn="l" rtl="0">
              <a:lnSpc>
                <a:spcPct val="100000"/>
              </a:lnSpc>
              <a:spcBef>
                <a:spcPts val="0"/>
              </a:spcBef>
              <a:spcAft>
                <a:spcPts val="0"/>
              </a:spcAft>
              <a:buFont typeface="Wingdings" panose="05000000000000000000" pitchFamily="2" charset="2"/>
              <a:buChar char="v"/>
            </a:pPr>
            <a:r>
              <a:rPr lang="en-IN" sz="1700" b="1" dirty="0">
                <a:solidFill>
                  <a:schemeClr val="lt2"/>
                </a:solidFill>
                <a:latin typeface="Times New Roman"/>
                <a:ea typeface="Times New Roman"/>
                <a:cs typeface="Times New Roman"/>
                <a:sym typeface="Times New Roman"/>
              </a:rPr>
              <a:t>Lowest age group:</a:t>
            </a:r>
            <a:r>
              <a:rPr lang="en-IN" sz="1700" dirty="0">
                <a:solidFill>
                  <a:schemeClr val="lt2"/>
                </a:solidFill>
                <a:latin typeface="Times New Roman"/>
                <a:ea typeface="Times New Roman"/>
                <a:cs typeface="Times New Roman"/>
                <a:sym typeface="Times New Roman"/>
              </a:rPr>
              <a:t> 18–25 (10.4M)</a:t>
            </a:r>
            <a:endParaRPr sz="1700" dirty="0">
              <a:solidFill>
                <a:schemeClr val="lt2"/>
              </a:solidFill>
              <a:latin typeface="Times New Roman"/>
              <a:ea typeface="Times New Roman"/>
              <a:cs typeface="Times New Roman"/>
              <a:sym typeface="Times New Roman"/>
            </a:endParaRPr>
          </a:p>
          <a:p>
            <a:pPr marL="285750" lvl="0" indent="-285750" algn="l" rtl="0">
              <a:lnSpc>
                <a:spcPct val="100000"/>
              </a:lnSpc>
              <a:spcBef>
                <a:spcPts val="0"/>
              </a:spcBef>
              <a:spcAft>
                <a:spcPts val="0"/>
              </a:spcAft>
              <a:buClr>
                <a:srgbClr val="000000"/>
              </a:buClr>
              <a:buFont typeface="Wingdings" panose="05000000000000000000" pitchFamily="2" charset="2"/>
              <a:buChar char="v"/>
            </a:pPr>
            <a:r>
              <a:rPr lang="en-IN" sz="1700" b="1" dirty="0">
                <a:solidFill>
                  <a:schemeClr val="lt2"/>
                </a:solidFill>
                <a:latin typeface="Times New Roman"/>
                <a:ea typeface="Times New Roman"/>
                <a:cs typeface="Times New Roman"/>
                <a:sym typeface="Times New Roman"/>
              </a:rPr>
              <a:t>Top malls:</a:t>
            </a:r>
            <a:r>
              <a:rPr lang="en-IN" sz="1700" dirty="0">
                <a:solidFill>
                  <a:schemeClr val="lt2"/>
                </a:solidFill>
                <a:latin typeface="Times New Roman"/>
                <a:ea typeface="Times New Roman"/>
                <a:cs typeface="Times New Roman"/>
                <a:sym typeface="Times New Roman"/>
              </a:rPr>
              <a:t> Mall of Istanbul, </a:t>
            </a:r>
            <a:r>
              <a:rPr lang="en-IN" sz="1700" dirty="0" err="1">
                <a:solidFill>
                  <a:schemeClr val="lt2"/>
                </a:solidFill>
                <a:latin typeface="Times New Roman"/>
                <a:ea typeface="Times New Roman"/>
                <a:cs typeface="Times New Roman"/>
                <a:sym typeface="Times New Roman"/>
              </a:rPr>
              <a:t>Kanyon</a:t>
            </a:r>
            <a:r>
              <a:rPr lang="en-IN" sz="1700" dirty="0">
                <a:solidFill>
                  <a:schemeClr val="lt2"/>
                </a:solidFill>
                <a:latin typeface="Times New Roman"/>
                <a:ea typeface="Times New Roman"/>
                <a:cs typeface="Times New Roman"/>
                <a:sym typeface="Times New Roman"/>
              </a:rPr>
              <a:t>, </a:t>
            </a:r>
            <a:r>
              <a:rPr lang="en-IN" sz="1700" dirty="0" err="1">
                <a:solidFill>
                  <a:schemeClr val="lt2"/>
                </a:solidFill>
                <a:latin typeface="Times New Roman"/>
                <a:ea typeface="Times New Roman"/>
                <a:cs typeface="Times New Roman"/>
                <a:sym typeface="Times New Roman"/>
              </a:rPr>
              <a:t>Metrocity</a:t>
            </a:r>
            <a:r>
              <a:rPr lang="en-IN" sz="1700" dirty="0">
                <a:solidFill>
                  <a:schemeClr val="lt2"/>
                </a:solidFill>
                <a:latin typeface="Times New Roman"/>
                <a:ea typeface="Times New Roman"/>
                <a:cs typeface="Times New Roman"/>
                <a:sym typeface="Times New Roman"/>
              </a:rPr>
              <a:t>	</a:t>
            </a:r>
          </a:p>
          <a:p>
            <a:pPr marL="285750" lvl="0" indent="-285750" algn="l" rtl="0">
              <a:lnSpc>
                <a:spcPct val="100000"/>
              </a:lnSpc>
              <a:spcBef>
                <a:spcPts val="0"/>
              </a:spcBef>
              <a:spcAft>
                <a:spcPts val="0"/>
              </a:spcAft>
              <a:buClr>
                <a:srgbClr val="000000"/>
              </a:buClr>
              <a:buFont typeface="Wingdings" panose="05000000000000000000" pitchFamily="2" charset="2"/>
              <a:buChar char="v"/>
            </a:pPr>
            <a:r>
              <a:rPr lang="en-IN" sz="1700" b="1" dirty="0">
                <a:solidFill>
                  <a:schemeClr val="lt2"/>
                </a:solidFill>
                <a:latin typeface="Times New Roman"/>
                <a:ea typeface="Times New Roman"/>
                <a:cs typeface="Times New Roman"/>
                <a:sym typeface="Times New Roman"/>
              </a:rPr>
              <a:t>Digital payments dominate (≈80%)</a:t>
            </a:r>
            <a:r>
              <a:rPr lang="en-IN" sz="1700" dirty="0">
                <a:solidFill>
                  <a:schemeClr val="lt2"/>
                </a:solidFill>
                <a:latin typeface="Times New Roman"/>
                <a:ea typeface="Times New Roman"/>
                <a:cs typeface="Times New Roman"/>
                <a:sym typeface="Times New Roman"/>
              </a:rPr>
              <a:t> – Credit + Debit</a:t>
            </a:r>
            <a:endParaRPr sz="1700" dirty="0">
              <a:solidFill>
                <a:schemeClr val="lt2"/>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700" dirty="0">
              <a:solidFill>
                <a:schemeClr val="lt2"/>
              </a:solidFill>
              <a:latin typeface="Times New Roman"/>
              <a:ea typeface="Times New Roman"/>
              <a:cs typeface="Times New Roman"/>
              <a:sym typeface="Times New Roman"/>
            </a:endParaRPr>
          </a:p>
          <a:p>
            <a:pPr marL="0" lvl="0" indent="0" algn="l" rtl="0">
              <a:lnSpc>
                <a:spcPct val="100000"/>
              </a:lnSpc>
              <a:spcBef>
                <a:spcPts val="0"/>
              </a:spcBef>
              <a:spcAft>
                <a:spcPts val="0"/>
              </a:spcAft>
              <a:buClr>
                <a:srgbClr val="000000"/>
              </a:buClr>
              <a:buFont typeface="Arial"/>
              <a:buNone/>
            </a:pPr>
            <a:r>
              <a:rPr lang="en-IN" sz="1700" dirty="0">
                <a:solidFill>
                  <a:schemeClr val="lt2"/>
                </a:solidFill>
                <a:latin typeface="Times New Roman"/>
                <a:ea typeface="Times New Roman"/>
                <a:cs typeface="Times New Roman"/>
                <a:sym typeface="Times New Roman"/>
              </a:rPr>
              <a:t>Several malls show </a:t>
            </a:r>
            <a:r>
              <a:rPr lang="en-IN" sz="1700" b="1" dirty="0">
                <a:solidFill>
                  <a:schemeClr val="lt2"/>
                </a:solidFill>
                <a:latin typeface="Times New Roman"/>
                <a:ea typeface="Times New Roman"/>
                <a:cs typeface="Times New Roman"/>
                <a:sym typeface="Times New Roman"/>
              </a:rPr>
              <a:t>low performance</a:t>
            </a:r>
            <a:r>
              <a:rPr lang="en-IN" sz="1700" dirty="0">
                <a:solidFill>
                  <a:schemeClr val="lt2"/>
                </a:solidFill>
                <a:latin typeface="Times New Roman"/>
                <a:ea typeface="Times New Roman"/>
                <a:cs typeface="Times New Roman"/>
                <a:sym typeface="Times New Roman"/>
              </a:rPr>
              <a:t> (</a:t>
            </a:r>
            <a:r>
              <a:rPr lang="en-IN" sz="1700" dirty="0" err="1">
                <a:solidFill>
                  <a:schemeClr val="lt2"/>
                </a:solidFill>
                <a:latin typeface="Times New Roman"/>
                <a:ea typeface="Times New Roman"/>
                <a:cs typeface="Times New Roman"/>
                <a:sym typeface="Times New Roman"/>
              </a:rPr>
              <a:t>Viaport</a:t>
            </a:r>
            <a:r>
              <a:rPr lang="en-IN" sz="1700" dirty="0">
                <a:solidFill>
                  <a:schemeClr val="lt2"/>
                </a:solidFill>
                <a:latin typeface="Times New Roman"/>
                <a:ea typeface="Times New Roman"/>
                <a:cs typeface="Times New Roman"/>
                <a:sym typeface="Times New Roman"/>
              </a:rPr>
              <a:t>, Emaar, Forum)</a:t>
            </a:r>
            <a:endParaRPr sz="1700" dirty="0">
              <a:solidFill>
                <a:schemeClr val="lt2"/>
              </a:solidFill>
              <a:latin typeface="Times New Roman"/>
              <a:ea typeface="Times New Roman"/>
              <a:cs typeface="Times New Roman"/>
              <a:sym typeface="Times New Roman"/>
            </a:endParaRPr>
          </a:p>
          <a:p>
            <a:pPr marL="0" lvl="0" indent="0" algn="l" rtl="0">
              <a:lnSpc>
                <a:spcPct val="100000"/>
              </a:lnSpc>
              <a:spcBef>
                <a:spcPts val="0"/>
              </a:spcBef>
              <a:spcAft>
                <a:spcPts val="0"/>
              </a:spcAft>
              <a:buClr>
                <a:srgbClr val="000000"/>
              </a:buClr>
              <a:buSzPts val="1200"/>
              <a:buFont typeface="Calibri"/>
              <a:buNone/>
            </a:pPr>
            <a:endParaRPr sz="1700" dirty="0">
              <a:solidFill>
                <a:schemeClr val="lt2"/>
              </a:solidFill>
              <a:latin typeface="Times New Roman"/>
              <a:ea typeface="Times New Roman"/>
              <a:cs typeface="Times New Roman"/>
              <a:sym typeface="Times New Roman"/>
            </a:endParaRPr>
          </a:p>
          <a:p>
            <a:pPr marL="0" lvl="0" indent="0" algn="l" rtl="0">
              <a:lnSpc>
                <a:spcPct val="100000"/>
              </a:lnSpc>
              <a:spcBef>
                <a:spcPts val="0"/>
              </a:spcBef>
              <a:spcAft>
                <a:spcPts val="0"/>
              </a:spcAft>
              <a:buClr>
                <a:srgbClr val="000000"/>
              </a:buClr>
              <a:buFont typeface="Arial"/>
              <a:buNone/>
            </a:pPr>
            <a:r>
              <a:rPr lang="en-IN" sz="1700" b="1" i="1" u="sng" dirty="0">
                <a:solidFill>
                  <a:schemeClr val="lt2"/>
                </a:solidFill>
                <a:latin typeface="Times New Roman"/>
                <a:ea typeface="Times New Roman"/>
                <a:cs typeface="Times New Roman"/>
                <a:sym typeface="Times New Roman"/>
              </a:rPr>
              <a:t>Suggestions:-</a:t>
            </a:r>
            <a:endParaRPr sz="1700" i="1" u="sng" dirty="0">
              <a:solidFill>
                <a:schemeClr val="lt2"/>
              </a:solidFill>
              <a:latin typeface="Times New Roman"/>
              <a:ea typeface="Times New Roman"/>
              <a:cs typeface="Times New Roman"/>
              <a:sym typeface="Times New Roman"/>
            </a:endParaRPr>
          </a:p>
          <a:p>
            <a:pPr marL="457200" lvl="0" indent="-336550" algn="l" rtl="0">
              <a:lnSpc>
                <a:spcPct val="100000"/>
              </a:lnSpc>
              <a:spcBef>
                <a:spcPts val="0"/>
              </a:spcBef>
              <a:spcAft>
                <a:spcPts val="0"/>
              </a:spcAft>
              <a:buClr>
                <a:schemeClr val="lt2"/>
              </a:buClr>
              <a:buSzPts val="1700"/>
              <a:buFont typeface="Calibri"/>
              <a:buChar char="●"/>
            </a:pPr>
            <a:r>
              <a:rPr lang="en-IN" sz="1700" dirty="0">
                <a:solidFill>
                  <a:schemeClr val="lt2"/>
                </a:solidFill>
                <a:latin typeface="Times New Roman"/>
                <a:ea typeface="Times New Roman"/>
                <a:cs typeface="Times New Roman"/>
                <a:sym typeface="Times New Roman"/>
              </a:rPr>
              <a:t>Focus marketing on </a:t>
            </a:r>
            <a:r>
              <a:rPr lang="en-IN" sz="1700" b="1" dirty="0">
                <a:solidFill>
                  <a:schemeClr val="lt2"/>
                </a:solidFill>
                <a:latin typeface="Times New Roman"/>
                <a:ea typeface="Times New Roman"/>
                <a:cs typeface="Times New Roman"/>
                <a:sym typeface="Times New Roman"/>
              </a:rPr>
              <a:t>female customers</a:t>
            </a:r>
            <a:endParaRPr sz="1700" dirty="0">
              <a:solidFill>
                <a:schemeClr val="lt2"/>
              </a:solidFill>
              <a:latin typeface="Times New Roman"/>
              <a:ea typeface="Times New Roman"/>
              <a:cs typeface="Times New Roman"/>
              <a:sym typeface="Times New Roman"/>
            </a:endParaRPr>
          </a:p>
          <a:p>
            <a:pPr marL="457200" lvl="0" indent="-336550" algn="l" rtl="0">
              <a:lnSpc>
                <a:spcPct val="100000"/>
              </a:lnSpc>
              <a:spcBef>
                <a:spcPts val="0"/>
              </a:spcBef>
              <a:spcAft>
                <a:spcPts val="0"/>
              </a:spcAft>
              <a:buClr>
                <a:schemeClr val="lt2"/>
              </a:buClr>
              <a:buSzPts val="1700"/>
              <a:buFont typeface="Calibri"/>
              <a:buChar char="●"/>
            </a:pPr>
            <a:r>
              <a:rPr lang="en-IN" sz="1700" dirty="0">
                <a:solidFill>
                  <a:schemeClr val="lt2"/>
                </a:solidFill>
                <a:latin typeface="Times New Roman"/>
                <a:ea typeface="Times New Roman"/>
                <a:cs typeface="Times New Roman"/>
                <a:sym typeface="Times New Roman"/>
              </a:rPr>
              <a:t>Target </a:t>
            </a:r>
            <a:r>
              <a:rPr lang="en-IN" sz="1700" b="1" dirty="0">
                <a:solidFill>
                  <a:schemeClr val="lt2"/>
                </a:solidFill>
                <a:latin typeface="Times New Roman"/>
                <a:ea typeface="Times New Roman"/>
                <a:cs typeface="Times New Roman"/>
                <a:sym typeface="Times New Roman"/>
              </a:rPr>
              <a:t>46–60</a:t>
            </a:r>
            <a:r>
              <a:rPr lang="en-IN" sz="1700" dirty="0">
                <a:solidFill>
                  <a:schemeClr val="lt2"/>
                </a:solidFill>
                <a:latin typeface="Times New Roman"/>
                <a:ea typeface="Times New Roman"/>
                <a:cs typeface="Times New Roman"/>
                <a:sym typeface="Times New Roman"/>
              </a:rPr>
              <a:t> with premium products</a:t>
            </a:r>
            <a:endParaRPr sz="1700" dirty="0">
              <a:solidFill>
                <a:schemeClr val="lt2"/>
              </a:solidFill>
              <a:latin typeface="Times New Roman"/>
              <a:ea typeface="Times New Roman"/>
              <a:cs typeface="Times New Roman"/>
              <a:sym typeface="Times New Roman"/>
            </a:endParaRPr>
          </a:p>
          <a:p>
            <a:pPr marL="457200" lvl="0" indent="-336550" algn="l" rtl="0">
              <a:lnSpc>
                <a:spcPct val="100000"/>
              </a:lnSpc>
              <a:spcBef>
                <a:spcPts val="0"/>
              </a:spcBef>
              <a:spcAft>
                <a:spcPts val="0"/>
              </a:spcAft>
              <a:buClr>
                <a:schemeClr val="lt2"/>
              </a:buClr>
              <a:buSzPts val="1700"/>
              <a:buFont typeface="Calibri"/>
              <a:buChar char="●"/>
            </a:pPr>
            <a:r>
              <a:rPr lang="en-IN" sz="1700" dirty="0">
                <a:solidFill>
                  <a:schemeClr val="lt2"/>
                </a:solidFill>
                <a:latin typeface="Times New Roman"/>
                <a:ea typeface="Times New Roman"/>
                <a:cs typeface="Times New Roman"/>
                <a:sym typeface="Times New Roman"/>
              </a:rPr>
              <a:t>Attract </a:t>
            </a:r>
            <a:r>
              <a:rPr lang="en-IN" sz="1700" b="1" dirty="0">
                <a:solidFill>
                  <a:schemeClr val="lt2"/>
                </a:solidFill>
                <a:latin typeface="Times New Roman"/>
                <a:ea typeface="Times New Roman"/>
                <a:cs typeface="Times New Roman"/>
                <a:sym typeface="Times New Roman"/>
              </a:rPr>
              <a:t>18–25</a:t>
            </a:r>
            <a:r>
              <a:rPr lang="en-IN" sz="1700" dirty="0">
                <a:solidFill>
                  <a:schemeClr val="lt2"/>
                </a:solidFill>
                <a:latin typeface="Times New Roman"/>
                <a:ea typeface="Times New Roman"/>
                <a:cs typeface="Times New Roman"/>
                <a:sym typeface="Times New Roman"/>
              </a:rPr>
              <a:t> using discounts &amp; offers</a:t>
            </a:r>
            <a:endParaRPr sz="1700" dirty="0">
              <a:solidFill>
                <a:schemeClr val="lt2"/>
              </a:solidFill>
              <a:latin typeface="Times New Roman"/>
              <a:ea typeface="Times New Roman"/>
              <a:cs typeface="Times New Roman"/>
              <a:sym typeface="Times New Roman"/>
            </a:endParaRPr>
          </a:p>
          <a:p>
            <a:pPr marL="457200" lvl="0" indent="-336550" algn="l" rtl="0">
              <a:lnSpc>
                <a:spcPct val="100000"/>
              </a:lnSpc>
              <a:spcBef>
                <a:spcPts val="0"/>
              </a:spcBef>
              <a:spcAft>
                <a:spcPts val="0"/>
              </a:spcAft>
              <a:buClr>
                <a:schemeClr val="lt2"/>
              </a:buClr>
              <a:buSzPts val="1700"/>
              <a:buFont typeface="Calibri"/>
              <a:buChar char="●"/>
            </a:pPr>
            <a:r>
              <a:rPr lang="en-IN" sz="1700" dirty="0">
                <a:solidFill>
                  <a:schemeClr val="lt2"/>
                </a:solidFill>
                <a:latin typeface="Times New Roman"/>
                <a:ea typeface="Times New Roman"/>
                <a:cs typeface="Times New Roman"/>
                <a:sym typeface="Times New Roman"/>
              </a:rPr>
              <a:t>Increase stock &amp; promotions in </a:t>
            </a:r>
            <a:r>
              <a:rPr lang="en-IN" sz="1700" b="1" dirty="0">
                <a:solidFill>
                  <a:schemeClr val="lt2"/>
                </a:solidFill>
                <a:latin typeface="Times New Roman"/>
                <a:ea typeface="Times New Roman"/>
                <a:cs typeface="Times New Roman"/>
                <a:sym typeface="Times New Roman"/>
              </a:rPr>
              <a:t>top 3 malls</a:t>
            </a:r>
            <a:endParaRPr sz="1700" dirty="0">
              <a:solidFill>
                <a:schemeClr val="lt2"/>
              </a:solidFill>
              <a:latin typeface="Times New Roman"/>
              <a:ea typeface="Times New Roman"/>
              <a:cs typeface="Times New Roman"/>
              <a:sym typeface="Times New Roman"/>
            </a:endParaRPr>
          </a:p>
          <a:p>
            <a:pPr marL="457200" lvl="0" indent="-336550" algn="l" rtl="0">
              <a:lnSpc>
                <a:spcPct val="100000"/>
              </a:lnSpc>
              <a:spcBef>
                <a:spcPts val="0"/>
              </a:spcBef>
              <a:spcAft>
                <a:spcPts val="0"/>
              </a:spcAft>
              <a:buClr>
                <a:schemeClr val="lt2"/>
              </a:buClr>
              <a:buSzPts val="1700"/>
              <a:buFont typeface="Calibri"/>
              <a:buChar char="●"/>
            </a:pPr>
            <a:r>
              <a:rPr lang="en-IN" sz="1700" dirty="0">
                <a:solidFill>
                  <a:schemeClr val="lt2"/>
                </a:solidFill>
                <a:latin typeface="Times New Roman"/>
                <a:ea typeface="Times New Roman"/>
                <a:cs typeface="Times New Roman"/>
                <a:sym typeface="Times New Roman"/>
              </a:rPr>
              <a:t>Improve or close </a:t>
            </a:r>
            <a:r>
              <a:rPr lang="en-IN" sz="1700" b="1" dirty="0">
                <a:solidFill>
                  <a:schemeClr val="lt2"/>
                </a:solidFill>
                <a:latin typeface="Times New Roman"/>
                <a:ea typeface="Times New Roman"/>
                <a:cs typeface="Times New Roman"/>
                <a:sym typeface="Times New Roman"/>
              </a:rPr>
              <a:t>low-performing malls</a:t>
            </a:r>
            <a:endParaRPr sz="1700" dirty="0">
              <a:solidFill>
                <a:schemeClr val="lt2"/>
              </a:solidFill>
              <a:latin typeface="Times New Roman"/>
              <a:ea typeface="Times New Roman"/>
              <a:cs typeface="Times New Roman"/>
              <a:sym typeface="Times New Roman"/>
            </a:endParaRPr>
          </a:p>
          <a:p>
            <a:pPr marL="457200" lvl="0" indent="-336550" algn="l" rtl="0">
              <a:lnSpc>
                <a:spcPct val="100000"/>
              </a:lnSpc>
              <a:spcBef>
                <a:spcPts val="0"/>
              </a:spcBef>
              <a:spcAft>
                <a:spcPts val="0"/>
              </a:spcAft>
              <a:buClr>
                <a:schemeClr val="lt2"/>
              </a:buClr>
              <a:buSzPts val="1700"/>
              <a:buFont typeface="Calibri"/>
              <a:buChar char="●"/>
            </a:pPr>
            <a:r>
              <a:rPr lang="en-IN" sz="1700" dirty="0">
                <a:solidFill>
                  <a:schemeClr val="lt2"/>
                </a:solidFill>
                <a:latin typeface="Times New Roman"/>
                <a:ea typeface="Times New Roman"/>
                <a:cs typeface="Times New Roman"/>
                <a:sym typeface="Times New Roman"/>
              </a:rPr>
              <a:t>Encourage </a:t>
            </a:r>
            <a:r>
              <a:rPr lang="en-IN" sz="1700" b="1" dirty="0">
                <a:solidFill>
                  <a:schemeClr val="lt2"/>
                </a:solidFill>
                <a:latin typeface="Times New Roman"/>
                <a:ea typeface="Times New Roman"/>
                <a:cs typeface="Times New Roman"/>
                <a:sym typeface="Times New Roman"/>
              </a:rPr>
              <a:t>digital payments</a:t>
            </a:r>
            <a:r>
              <a:rPr lang="en-IN" sz="1700" dirty="0">
                <a:solidFill>
                  <a:schemeClr val="lt2"/>
                </a:solidFill>
                <a:latin typeface="Times New Roman"/>
                <a:ea typeface="Times New Roman"/>
                <a:cs typeface="Times New Roman"/>
                <a:sym typeface="Times New Roman"/>
              </a:rPr>
              <a:t> with cashback</a:t>
            </a:r>
            <a:endParaRPr sz="1700" dirty="0">
              <a:solidFill>
                <a:schemeClr val="lt2"/>
              </a:solidFill>
              <a:latin typeface="Times New Roman"/>
              <a:ea typeface="Times New Roman"/>
              <a:cs typeface="Times New Roman"/>
              <a:sym typeface="Times New Roman"/>
            </a:endParaRPr>
          </a:p>
          <a:p>
            <a:pPr marL="457200" lvl="0" indent="-336550" algn="l" rtl="0">
              <a:lnSpc>
                <a:spcPct val="100000"/>
              </a:lnSpc>
              <a:spcBef>
                <a:spcPts val="0"/>
              </a:spcBef>
              <a:spcAft>
                <a:spcPts val="0"/>
              </a:spcAft>
              <a:buClr>
                <a:schemeClr val="lt2"/>
              </a:buClr>
              <a:buSzPts val="1700"/>
              <a:buFont typeface="Calibri"/>
              <a:buChar char="●"/>
            </a:pPr>
            <a:r>
              <a:rPr lang="en-IN" sz="1700" dirty="0">
                <a:solidFill>
                  <a:schemeClr val="lt2"/>
                </a:solidFill>
                <a:latin typeface="Times New Roman"/>
                <a:ea typeface="Times New Roman"/>
                <a:cs typeface="Times New Roman"/>
                <a:sym typeface="Times New Roman"/>
              </a:rPr>
              <a:t>Use </a:t>
            </a:r>
            <a:r>
              <a:rPr lang="en-IN" sz="1700" b="1" dirty="0">
                <a:solidFill>
                  <a:schemeClr val="lt2"/>
                </a:solidFill>
                <a:latin typeface="Times New Roman"/>
                <a:ea typeface="Times New Roman"/>
                <a:cs typeface="Times New Roman"/>
                <a:sym typeface="Times New Roman"/>
              </a:rPr>
              <a:t>bundle offers</a:t>
            </a:r>
            <a:r>
              <a:rPr lang="en-IN" sz="1700" dirty="0">
                <a:solidFill>
                  <a:schemeClr val="lt2"/>
                </a:solidFill>
                <a:latin typeface="Times New Roman"/>
                <a:ea typeface="Times New Roman"/>
                <a:cs typeface="Times New Roman"/>
                <a:sym typeface="Times New Roman"/>
              </a:rPr>
              <a:t> to increase order value</a:t>
            </a:r>
            <a:endParaRPr sz="2900" dirty="0">
              <a:solidFill>
                <a:schemeClr val="lt2"/>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0"/>
          <p:cNvSpPr txBox="1">
            <a:spLocks noGrp="1"/>
          </p:cNvSpPr>
          <p:nvPr>
            <p:ph type="title"/>
          </p:nvPr>
        </p:nvSpPr>
        <p:spPr>
          <a:xfrm>
            <a:off x="1104293" y="380038"/>
            <a:ext cx="9404723" cy="105197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lt2"/>
              </a:buClr>
              <a:buSzPts val="4200"/>
              <a:buFont typeface="Times New Roman"/>
              <a:buNone/>
            </a:pPr>
            <a:r>
              <a:rPr lang="en-IN" u="sng" dirty="0">
                <a:latin typeface="Times New Roman"/>
                <a:ea typeface="Times New Roman"/>
                <a:cs typeface="Times New Roman"/>
                <a:sym typeface="Times New Roman"/>
              </a:rPr>
              <a:t>Insights and suggestions to the company.</a:t>
            </a:r>
            <a:endParaRPr u="sng" dirty="0">
              <a:latin typeface="Times New Roman"/>
              <a:ea typeface="Times New Roman"/>
              <a:cs typeface="Times New Roman"/>
              <a:sym typeface="Times New Roman"/>
            </a:endParaRPr>
          </a:p>
        </p:txBody>
      </p:sp>
      <p:sp>
        <p:nvSpPr>
          <p:cNvPr id="196" name="Google Shape;196;p30"/>
          <p:cNvSpPr txBox="1">
            <a:spLocks noGrp="1"/>
          </p:cNvSpPr>
          <p:nvPr>
            <p:ph type="body" idx="1"/>
          </p:nvPr>
        </p:nvSpPr>
        <p:spPr>
          <a:xfrm>
            <a:off x="1196760" y="1432008"/>
            <a:ext cx="8946541" cy="4954057"/>
          </a:xfrm>
          <a:prstGeom prst="rect">
            <a:avLst/>
          </a:prstGeom>
          <a:noFill/>
          <a:ln>
            <a:noFill/>
          </a:ln>
        </p:spPr>
        <p:txBody>
          <a:bodyPr spcFirstLastPara="1" wrap="square" lIns="91425" tIns="45700" rIns="91425" bIns="45700" anchor="t" anchorCtr="0">
            <a:noAutofit/>
          </a:bodyPr>
          <a:lstStyle/>
          <a:p>
            <a:pPr marL="8890" lvl="0" indent="0">
              <a:spcBef>
                <a:spcPts val="0"/>
              </a:spcBef>
              <a:buSzPts val="1460"/>
              <a:buNone/>
            </a:pPr>
            <a:r>
              <a:rPr lang="en-US" sz="2000" b="1" i="1" u="sng" dirty="0">
                <a:latin typeface="Times New Roman"/>
                <a:ea typeface="Times New Roman"/>
                <a:cs typeface="Times New Roman"/>
                <a:sym typeface="Times New Roman"/>
              </a:rPr>
              <a:t>1. Gender-Based Insights</a:t>
            </a:r>
          </a:p>
          <a:p>
            <a:pPr marL="351790" indent="-342900">
              <a:spcBef>
                <a:spcPts val="0"/>
              </a:spcBef>
              <a:buSzPts val="1460"/>
            </a:pPr>
            <a:r>
              <a:rPr lang="en-US" sz="2000" dirty="0">
                <a:latin typeface="Times New Roman"/>
                <a:ea typeface="Times New Roman"/>
                <a:cs typeface="Times New Roman"/>
                <a:sym typeface="Times New Roman"/>
              </a:rPr>
              <a:t>One gender (typically Female in most malls) shows higher shopping frequency across multiple categories. </a:t>
            </a:r>
          </a:p>
          <a:p>
            <a:pPr marL="351790" indent="-342900">
              <a:spcBef>
                <a:spcPts val="0"/>
              </a:spcBef>
              <a:buSzPts val="1460"/>
            </a:pPr>
            <a:r>
              <a:rPr lang="en-US" sz="2000" dirty="0">
                <a:latin typeface="Times New Roman"/>
                <a:ea typeface="Times New Roman"/>
                <a:cs typeface="Times New Roman"/>
                <a:sym typeface="Times New Roman"/>
              </a:rPr>
              <a:t>Revenue contribution varies slightly but follows a similar trend.</a:t>
            </a:r>
          </a:p>
          <a:p>
            <a:pPr marL="351790" indent="-342900">
              <a:spcBef>
                <a:spcPts val="0"/>
              </a:spcBef>
              <a:buSzPts val="1460"/>
            </a:pPr>
            <a:endParaRPr lang="en-US" sz="2000" dirty="0">
              <a:latin typeface="Times New Roman"/>
              <a:ea typeface="Times New Roman"/>
              <a:cs typeface="Times New Roman"/>
              <a:sym typeface="Times New Roman"/>
            </a:endParaRPr>
          </a:p>
          <a:p>
            <a:pPr marL="8890" indent="0">
              <a:spcBef>
                <a:spcPts val="0"/>
              </a:spcBef>
              <a:buSzPts val="1460"/>
              <a:buNone/>
            </a:pPr>
            <a:r>
              <a:rPr lang="en-US" sz="2000" b="1" i="1" u="sng" dirty="0">
                <a:latin typeface="Times New Roman"/>
                <a:ea typeface="Times New Roman"/>
                <a:cs typeface="Times New Roman"/>
                <a:sym typeface="Times New Roman"/>
              </a:rPr>
              <a:t>2. Age-Based Insights </a:t>
            </a:r>
          </a:p>
          <a:p>
            <a:pPr marL="351790" indent="-342900">
              <a:spcBef>
                <a:spcPts val="0"/>
              </a:spcBef>
              <a:buSzPts val="1460"/>
            </a:pPr>
            <a:r>
              <a:rPr lang="en-US" sz="2000" dirty="0">
                <a:latin typeface="Times New Roman"/>
                <a:ea typeface="Times New Roman"/>
                <a:cs typeface="Times New Roman"/>
                <a:sym typeface="Times New Roman"/>
              </a:rPr>
              <a:t>The 26–35 and 36–45 age groups form the largest customer base. </a:t>
            </a:r>
          </a:p>
          <a:p>
            <a:pPr marL="351790" indent="-342900">
              <a:spcBef>
                <a:spcPts val="0"/>
              </a:spcBef>
              <a:buSzPts val="1460"/>
            </a:pPr>
            <a:r>
              <a:rPr lang="en-US" sz="2000" dirty="0">
                <a:latin typeface="Times New Roman"/>
                <a:ea typeface="Times New Roman"/>
                <a:cs typeface="Times New Roman"/>
                <a:sym typeface="Times New Roman"/>
              </a:rPr>
              <a:t>These age groups also generate the maximum revenue, indicating strong purchasing power.</a:t>
            </a:r>
          </a:p>
          <a:p>
            <a:pPr marL="351790" indent="-342900">
              <a:spcBef>
                <a:spcPts val="0"/>
              </a:spcBef>
              <a:buSzPts val="1460"/>
            </a:pPr>
            <a:endParaRPr lang="en-US" sz="2000" dirty="0">
              <a:latin typeface="Times New Roman"/>
              <a:ea typeface="Times New Roman"/>
              <a:cs typeface="Times New Roman"/>
              <a:sym typeface="Times New Roman"/>
            </a:endParaRPr>
          </a:p>
          <a:p>
            <a:pPr marL="8890" indent="0">
              <a:spcBef>
                <a:spcPts val="0"/>
              </a:spcBef>
              <a:buSzPts val="1460"/>
              <a:buNone/>
            </a:pPr>
            <a:r>
              <a:rPr lang="en-US" sz="2000" b="1" i="1" u="sng" dirty="0">
                <a:latin typeface="Times New Roman"/>
                <a:ea typeface="Times New Roman"/>
                <a:cs typeface="Times New Roman"/>
                <a:sym typeface="Times New Roman"/>
              </a:rPr>
              <a:t>3. Product Category Trends </a:t>
            </a:r>
          </a:p>
          <a:p>
            <a:pPr marL="351790" indent="-342900">
              <a:spcBef>
                <a:spcPts val="0"/>
              </a:spcBef>
              <a:buSzPts val="1460"/>
            </a:pPr>
            <a:r>
              <a:rPr lang="en-US" sz="2000" dirty="0">
                <a:latin typeface="Times New Roman"/>
                <a:ea typeface="Times New Roman"/>
                <a:cs typeface="Times New Roman"/>
                <a:sym typeface="Times New Roman"/>
              </a:rPr>
              <a:t>Categories like Clothing, Electronics, Cosmetics, and Food &amp; Beverage dominate total sales. </a:t>
            </a:r>
          </a:p>
          <a:p>
            <a:pPr marL="351790" indent="-342900">
              <a:spcBef>
                <a:spcPts val="0"/>
              </a:spcBef>
              <a:buSzPts val="1460"/>
            </a:pPr>
            <a:r>
              <a:rPr lang="en-US" sz="2000" dirty="0">
                <a:latin typeface="Times New Roman"/>
                <a:ea typeface="Times New Roman"/>
                <a:cs typeface="Times New Roman"/>
                <a:sym typeface="Times New Roman"/>
              </a:rPr>
              <a:t>Strong relationships exist between age group, gender, and product preference.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E3269F3-860A-4335-A5A1-DBA1C7A8539D}"/>
              </a:ext>
            </a:extLst>
          </p:cNvPr>
          <p:cNvSpPr>
            <a:spLocks noGrp="1"/>
          </p:cNvSpPr>
          <p:nvPr>
            <p:ph type="body" idx="1"/>
          </p:nvPr>
        </p:nvSpPr>
        <p:spPr>
          <a:xfrm>
            <a:off x="1103312" y="308225"/>
            <a:ext cx="8946600" cy="5940193"/>
          </a:xfrm>
        </p:spPr>
        <p:txBody>
          <a:bodyPr>
            <a:noAutofit/>
          </a:bodyPr>
          <a:lstStyle/>
          <a:p>
            <a:pPr marL="8890" lvl="0" indent="0">
              <a:spcBef>
                <a:spcPts val="0"/>
              </a:spcBef>
              <a:buSzPts val="1460"/>
              <a:buNone/>
            </a:pPr>
            <a:r>
              <a:rPr lang="en-US" sz="2000" b="1" i="1" u="sng" dirty="0">
                <a:latin typeface="Times New Roman"/>
                <a:ea typeface="Times New Roman"/>
                <a:cs typeface="Times New Roman"/>
                <a:sym typeface="Times New Roman"/>
              </a:rPr>
              <a:t>4. Payment Method Analysis </a:t>
            </a:r>
          </a:p>
          <a:p>
            <a:pPr marL="351790" indent="-342900">
              <a:spcBef>
                <a:spcPts val="0"/>
              </a:spcBef>
              <a:buSzPts val="1460"/>
            </a:pPr>
            <a:r>
              <a:rPr lang="en-US" sz="2000" dirty="0">
                <a:latin typeface="Times New Roman"/>
                <a:ea typeface="Times New Roman"/>
                <a:cs typeface="Times New Roman"/>
                <a:sym typeface="Times New Roman"/>
              </a:rPr>
              <a:t>Credit cards are the most commonly used method, followed by cash and debit cards. </a:t>
            </a:r>
          </a:p>
          <a:p>
            <a:pPr marL="351790" indent="-342900">
              <a:spcBef>
                <a:spcPts val="0"/>
              </a:spcBef>
              <a:buSzPts val="1460"/>
            </a:pPr>
            <a:r>
              <a:rPr lang="en-US" sz="2000" dirty="0">
                <a:latin typeface="Times New Roman"/>
                <a:ea typeface="Times New Roman"/>
                <a:cs typeface="Times New Roman"/>
                <a:sym typeface="Times New Roman"/>
              </a:rPr>
              <a:t>Younger age groups lean more toward digital payments, while older groups prefer cash.</a:t>
            </a:r>
          </a:p>
          <a:p>
            <a:pPr marL="8890" lvl="0" indent="0">
              <a:spcBef>
                <a:spcPts val="0"/>
              </a:spcBef>
              <a:buSzPts val="1460"/>
              <a:buNone/>
            </a:pPr>
            <a:endParaRPr lang="en-US" sz="2000" b="1" i="1" u="sng" dirty="0">
              <a:latin typeface="Times New Roman"/>
              <a:ea typeface="Times New Roman"/>
              <a:cs typeface="Times New Roman"/>
              <a:sym typeface="Times New Roman"/>
            </a:endParaRPr>
          </a:p>
          <a:p>
            <a:pPr marL="8890" lvl="0" indent="0">
              <a:spcBef>
                <a:spcPts val="0"/>
              </a:spcBef>
              <a:buSzPts val="1460"/>
              <a:buNone/>
            </a:pPr>
            <a:r>
              <a:rPr lang="en-US" sz="2000" b="1" i="1" u="sng" dirty="0">
                <a:latin typeface="Times New Roman"/>
                <a:ea typeface="Times New Roman"/>
                <a:cs typeface="Times New Roman"/>
                <a:sym typeface="Times New Roman"/>
              </a:rPr>
              <a:t>5. Shopping Mall Performance </a:t>
            </a:r>
          </a:p>
          <a:p>
            <a:pPr marL="351790" indent="-342900">
              <a:spcBef>
                <a:spcPts val="0"/>
              </a:spcBef>
              <a:buSzPts val="1460"/>
            </a:pPr>
            <a:r>
              <a:rPr lang="en-US" sz="2000" dirty="0">
                <a:latin typeface="Times New Roman"/>
                <a:ea typeface="Times New Roman"/>
                <a:cs typeface="Times New Roman"/>
                <a:sym typeface="Times New Roman"/>
              </a:rPr>
              <a:t>Certain malls consistently outperform others in terms of transaction volume and revenue generation, indicating location-based demand differences.</a:t>
            </a:r>
          </a:p>
          <a:p>
            <a:pPr marL="342900" lvl="0" indent="-334010">
              <a:spcBef>
                <a:spcPts val="0"/>
              </a:spcBef>
              <a:buSzPts val="1460"/>
            </a:pPr>
            <a:endParaRPr lang="en-US" sz="2000" dirty="0">
              <a:latin typeface="Times New Roman"/>
              <a:ea typeface="Times New Roman"/>
              <a:cs typeface="Times New Roman"/>
              <a:sym typeface="Times New Roman"/>
            </a:endParaRPr>
          </a:p>
          <a:p>
            <a:pPr marL="8890" lvl="0" indent="0">
              <a:spcBef>
                <a:spcPts val="0"/>
              </a:spcBef>
              <a:buSzPts val="1460"/>
              <a:buNone/>
            </a:pPr>
            <a:r>
              <a:rPr lang="en-US" sz="2000" dirty="0">
                <a:latin typeface="Times New Roman"/>
                <a:ea typeface="Times New Roman"/>
                <a:cs typeface="Times New Roman"/>
                <a:sym typeface="Times New Roman"/>
              </a:rPr>
              <a:t>Based on these insights, the company should focus marketing on these top customer segments, provide credit-card offers, and maintain high inventory for the most popular categories.</a:t>
            </a:r>
            <a:endParaRPr lang="en-US" sz="2000" dirty="0"/>
          </a:p>
          <a:p>
            <a:pPr marL="8890" lvl="0" indent="0">
              <a:buSzPts val="1460"/>
              <a:buNone/>
            </a:pPr>
            <a:r>
              <a:rPr lang="en-US" sz="2000" b="1" i="1" u="sng" dirty="0"/>
              <a:t>Conclusion:-</a:t>
            </a:r>
          </a:p>
          <a:p>
            <a:pPr marL="342900" lvl="0" indent="-334010">
              <a:buSzPts val="1460"/>
            </a:pPr>
            <a:r>
              <a:rPr lang="en-US" sz="2000" dirty="0"/>
              <a:t>Focus on high-value customer segments, strengthen top malls, push digital payments, and increase average order value to boost overall profit.</a:t>
            </a:r>
          </a:p>
          <a:p>
            <a:pPr marL="342900" lvl="0" indent="-241300">
              <a:buSzPts val="1360"/>
              <a:buNone/>
            </a:pPr>
            <a:endParaRPr lang="en-US" sz="2000" dirty="0">
              <a:latin typeface="Times New Roman"/>
              <a:ea typeface="Times New Roman"/>
              <a:cs typeface="Times New Roman"/>
              <a:sym typeface="Times New Roman"/>
            </a:endParaRPr>
          </a:p>
          <a:p>
            <a:endParaRPr lang="en-US" sz="2000" dirty="0"/>
          </a:p>
        </p:txBody>
      </p:sp>
    </p:spTree>
    <p:extLst>
      <p:ext uri="{BB962C8B-B14F-4D97-AF65-F5344CB8AC3E}">
        <p14:creationId xmlns:p14="http://schemas.microsoft.com/office/powerpoint/2010/main" val="38234594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1"/>
          <p:cNvSpPr txBox="1">
            <a:spLocks noGrp="1"/>
          </p:cNvSpPr>
          <p:nvPr>
            <p:ph type="title"/>
          </p:nvPr>
        </p:nvSpPr>
        <p:spPr>
          <a:xfrm>
            <a:off x="4158300" y="2728800"/>
            <a:ext cx="38754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sz="7200"/>
              <a:t>Thank you!</a:t>
            </a:r>
            <a:endParaRPr sz="7200"/>
          </a:p>
        </p:txBody>
      </p:sp>
    </p:spTree>
  </p:cSld>
  <p:clrMapOvr>
    <a:masterClrMapping/>
  </p:clrMapOvr>
</p:sld>
</file>

<file path=ppt/theme/theme1.xml><?xml version="1.0" encoding="utf-8"?>
<a:theme xmlns:a="http://schemas.openxmlformats.org/drawingml/2006/main"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2798</Words>
  <Application>Microsoft Office PowerPoint</Application>
  <PresentationFormat>Widescreen</PresentationFormat>
  <Paragraphs>246</Paragraphs>
  <Slides>20</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Times New Roman</vt:lpstr>
      <vt:lpstr>Calibri</vt:lpstr>
      <vt:lpstr>Arial</vt:lpstr>
      <vt:lpstr>Oswald</vt:lpstr>
      <vt:lpstr>Century Gothic</vt:lpstr>
      <vt:lpstr>Wingdings</vt:lpstr>
      <vt:lpstr>Average</vt:lpstr>
      <vt:lpstr>Slate</vt:lpstr>
      <vt:lpstr>PRDA-05  Customer Data Analysis </vt:lpstr>
      <vt:lpstr>Executive Summary</vt:lpstr>
      <vt:lpstr>DATASET OVERVIEW</vt:lpstr>
      <vt:lpstr>1. How is the shopping distribution according to gender?</vt:lpstr>
      <vt:lpstr>2. Which gender did we sell more products to?</vt:lpstr>
      <vt:lpstr>3. Which gender generated more revenue?</vt:lpstr>
      <vt:lpstr>4. Distribution of purchase categories relative to other columns?</vt:lpstr>
      <vt:lpstr>2nd slide for Distribution of purchase categories relative to other columns? </vt:lpstr>
      <vt:lpstr>5. How is the shopping distribution according to age?</vt:lpstr>
      <vt:lpstr>6. Which age cat did we sell more products to?</vt:lpstr>
      <vt:lpstr>7. Which age cat generated more revenue?</vt:lpstr>
      <vt:lpstr>8. Distribution of purchase categories relative to other columns?</vt:lpstr>
      <vt:lpstr>PowerPoint Presentation</vt:lpstr>
      <vt:lpstr>9. Does the payment method have a relation with other columns?</vt:lpstr>
      <vt:lpstr>10. How is the distribution of the payment method?</vt:lpstr>
      <vt:lpstr>11. Visualize the data using Power BI</vt:lpstr>
      <vt:lpstr>Key Insights of Power BI</vt:lpstr>
      <vt:lpstr>Insights and suggestions to the company.</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PRDA-05  Customer Data Analysis </dc:title>
  <cp:lastModifiedBy>Pragya Rathore</cp:lastModifiedBy>
  <cp:revision>5</cp:revision>
  <dcterms:modified xsi:type="dcterms:W3CDTF">2025-12-05T16:33:46Z</dcterms:modified>
</cp:coreProperties>
</file>